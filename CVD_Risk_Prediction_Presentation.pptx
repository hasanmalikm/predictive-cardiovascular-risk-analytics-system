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9935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A9396"/>
          </a:solidFill>
          <a:ln/>
        </p:spPr>
      </p:sp>
      <p:sp>
        <p:nvSpPr>
          <p:cNvPr id="3" name="Shape 1"/>
          <p:cNvSpPr/>
          <p:nvPr/>
        </p:nvSpPr>
        <p:spPr>
          <a:xfrm>
            <a:off x="6583680" y="457200"/>
            <a:ext cx="2194560" cy="2194560"/>
          </a:xfrm>
          <a:prstGeom prst="ellipse">
            <a:avLst/>
          </a:prstGeom>
          <a:solidFill>
            <a:srgbClr val="0D2F4A"/>
          </a:solidFill>
          <a:ln w="12700">
            <a:solidFill>
              <a:srgbClr val="0A9396"/>
            </a:solidFill>
            <a:prstDash val="solid"/>
          </a:ln>
        </p:spPr>
      </p:sp>
      <p:sp>
        <p:nvSpPr>
          <p:cNvPr id="4" name="Text 2"/>
          <p:cNvSpPr/>
          <p:nvPr/>
        </p:nvSpPr>
        <p:spPr>
          <a:xfrm>
            <a:off x="6583680" y="457200"/>
            <a:ext cx="2194560" cy="2194560"/>
          </a:xfrm>
          <a:prstGeom prst="rect">
            <a:avLst/>
          </a:prstGeom>
          <a:noFill/>
          <a:ln/>
        </p:spPr>
        <p:txBody>
          <a:bodyPr wrap="square" lIns="0" tIns="0" rIns="0" bIns="0" rtlCol="0" anchor="ctr"/>
          <a:lstStyle/>
          <a:p>
            <a:pPr marL="0" indent="0" algn="ctr">
              <a:buNone/>
            </a:pPr>
            <a:r>
              <a:rPr lang="en-US" sz="6000" dirty="0">
                <a:solidFill>
                  <a:srgbClr val="E63946"/>
                </a:solidFill>
                <a:latin typeface="Calibri" pitchFamily="34" charset="0"/>
                <a:ea typeface="Calibri" pitchFamily="34" charset="-122"/>
                <a:cs typeface="Calibri" pitchFamily="34" charset="-120"/>
              </a:rPr>
              <a:t>♥</a:t>
            </a:r>
            <a:endParaRPr lang="en-US" sz="6000" dirty="0"/>
          </a:p>
        </p:txBody>
      </p:sp>
      <p:sp>
        <p:nvSpPr>
          <p:cNvPr id="5" name="Text 3"/>
          <p:cNvSpPr/>
          <p:nvPr/>
        </p:nvSpPr>
        <p:spPr>
          <a:xfrm>
            <a:off x="502920" y="411480"/>
            <a:ext cx="5943600" cy="347472"/>
          </a:xfrm>
          <a:prstGeom prst="rect">
            <a:avLst/>
          </a:prstGeom>
          <a:noFill/>
          <a:ln/>
        </p:spPr>
        <p:txBody>
          <a:bodyPr wrap="square" lIns="0" tIns="0" rIns="0" bIns="0" rtlCol="0" anchor="ctr"/>
          <a:lstStyle/>
          <a:p>
            <a:pPr marL="0" indent="0">
              <a:buNone/>
            </a:pPr>
            <a:r>
              <a:rPr lang="en-US" sz="1100" b="1" kern="0" spc="400" dirty="0">
                <a:solidFill>
                  <a:srgbClr val="0A9396"/>
                </a:solidFill>
                <a:latin typeface="Calibri" pitchFamily="34" charset="0"/>
                <a:ea typeface="Calibri" pitchFamily="34" charset="-122"/>
                <a:cs typeface="Calibri" pitchFamily="34" charset="-120"/>
              </a:rPr>
              <a:t>HEALTHCARE ANALYTICS</a:t>
            </a:r>
            <a:endParaRPr lang="en-US" sz="1100" dirty="0"/>
          </a:p>
        </p:txBody>
      </p:sp>
      <p:sp>
        <p:nvSpPr>
          <p:cNvPr id="6" name="Text 4"/>
          <p:cNvSpPr/>
          <p:nvPr/>
        </p:nvSpPr>
        <p:spPr>
          <a:xfrm>
            <a:off x="502920" y="804672"/>
            <a:ext cx="5943600" cy="20116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Cardiovascular Disease</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Risk Prediction &amp;</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Stratification Engine</a:t>
            </a:r>
            <a:endParaRPr lang="en-US" sz="3400" dirty="0"/>
          </a:p>
        </p:txBody>
      </p:sp>
      <p:sp>
        <p:nvSpPr>
          <p:cNvPr id="7" name="Shape 5"/>
          <p:cNvSpPr/>
          <p:nvPr/>
        </p:nvSpPr>
        <p:spPr>
          <a:xfrm>
            <a:off x="502920" y="2907792"/>
            <a:ext cx="5943600" cy="36576"/>
          </a:xfrm>
          <a:prstGeom prst="rect">
            <a:avLst/>
          </a:prstGeom>
          <a:solidFill>
            <a:srgbClr val="0A9396"/>
          </a:solidFill>
          <a:ln/>
        </p:spPr>
      </p:sp>
      <p:sp>
        <p:nvSpPr>
          <p:cNvPr id="8" name="Text 6"/>
          <p:cNvSpPr/>
          <p:nvPr/>
        </p:nvSpPr>
        <p:spPr>
          <a:xfrm>
            <a:off x="502920" y="2980944"/>
            <a:ext cx="7772400" cy="292608"/>
          </a:xfrm>
          <a:prstGeom prst="rect">
            <a:avLst/>
          </a:prstGeom>
          <a:noFill/>
          <a:ln/>
        </p:spPr>
        <p:txBody>
          <a:bodyPr wrap="square" lIns="0" tIns="0" rIns="0" bIns="0" rtlCol="0" anchor="ctr"/>
          <a:lstStyle/>
          <a:p>
            <a:pPr marL="0" indent="0">
              <a:buNone/>
            </a:pPr>
            <a:r>
              <a:rPr lang="en-US" sz="950" dirty="0">
                <a:solidFill>
                  <a:srgbClr val="94D2BD"/>
                </a:solidFill>
                <a:latin typeface="Calibri" pitchFamily="34" charset="0"/>
                <a:ea typeface="Calibri" pitchFamily="34" charset="-122"/>
                <a:cs typeface="Calibri" pitchFamily="34" charset="-120"/>
              </a:rPr>
              <a:t>Course Deliverable: Part A — Project Execution  ·  Machine Learning Clinical Risk Pipeline</a:t>
            </a:r>
            <a:endParaRPr lang="en-US" sz="950" dirty="0"/>
          </a:p>
        </p:txBody>
      </p:sp>
      <p:sp>
        <p:nvSpPr>
          <p:cNvPr id="9" name="Shape 7"/>
          <p:cNvSpPr/>
          <p:nvPr/>
        </p:nvSpPr>
        <p:spPr>
          <a:xfrm>
            <a:off x="502920" y="3383280"/>
            <a:ext cx="8321040" cy="1371600"/>
          </a:xfrm>
          <a:prstGeom prst="rect">
            <a:avLst/>
          </a:prstGeom>
          <a:solidFill>
            <a:srgbClr val="0D2F4A"/>
          </a:solidFill>
          <a:ln/>
          <a:effectLst>
            <a:outerShdw blurRad="101600" dist="38100" dir="8100000" algn="bl" rotWithShape="0">
              <a:srgbClr val="000000">
                <a:alpha val="12000"/>
              </a:srgbClr>
            </a:outerShdw>
          </a:effectLst>
        </p:spPr>
      </p:sp>
      <p:sp>
        <p:nvSpPr>
          <p:cNvPr id="10" name="Shape 8"/>
          <p:cNvSpPr/>
          <p:nvPr/>
        </p:nvSpPr>
        <p:spPr>
          <a:xfrm>
            <a:off x="502920" y="3383280"/>
            <a:ext cx="1463040" cy="1371600"/>
          </a:xfrm>
          <a:prstGeom prst="rect">
            <a:avLst/>
          </a:prstGeom>
          <a:solidFill>
            <a:srgbClr val="0A9396"/>
          </a:solidFill>
          <a:ln/>
        </p:spPr>
      </p:sp>
      <p:sp>
        <p:nvSpPr>
          <p:cNvPr id="11" name="Text 9"/>
          <p:cNvSpPr/>
          <p:nvPr/>
        </p:nvSpPr>
        <p:spPr>
          <a:xfrm>
            <a:off x="502920" y="3383280"/>
            <a:ext cx="1463040" cy="13716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MEMBERS</a:t>
            </a:r>
            <a:endParaRPr lang="en-US" sz="1100" dirty="0"/>
          </a:p>
        </p:txBody>
      </p:sp>
      <p:sp>
        <p:nvSpPr>
          <p:cNvPr id="12" name="Text 10"/>
          <p:cNvSpPr/>
          <p:nvPr/>
        </p:nvSpPr>
        <p:spPr>
          <a:xfrm>
            <a:off x="2194560" y="3493008"/>
            <a:ext cx="31089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 Muhammad Imran</a:t>
            </a:r>
            <a:endParaRPr lang="en-US" sz="1200" dirty="0"/>
          </a:p>
        </p:txBody>
      </p:sp>
      <p:sp>
        <p:nvSpPr>
          <p:cNvPr id="13" name="Text 11"/>
          <p:cNvSpPr/>
          <p:nvPr/>
        </p:nvSpPr>
        <p:spPr>
          <a:xfrm>
            <a:off x="2194560" y="3895344"/>
            <a:ext cx="31089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 Muhammad Fawad Khan</a:t>
            </a:r>
            <a:endParaRPr lang="en-US" sz="1200" dirty="0"/>
          </a:p>
        </p:txBody>
      </p:sp>
      <p:sp>
        <p:nvSpPr>
          <p:cNvPr id="14" name="Text 12"/>
          <p:cNvSpPr/>
          <p:nvPr/>
        </p:nvSpPr>
        <p:spPr>
          <a:xfrm>
            <a:off x="2194560" y="4297680"/>
            <a:ext cx="31089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 </a:t>
            </a:r>
            <a:r>
              <a:rPr lang="en-US" sz="1200" dirty="0" smtClean="0">
                <a:solidFill>
                  <a:srgbClr val="FFFFFF"/>
                </a:solidFill>
                <a:latin typeface="Calibri" pitchFamily="34" charset="0"/>
                <a:ea typeface="Calibri" pitchFamily="34" charset="-122"/>
                <a:cs typeface="Calibri" pitchFamily="34" charset="-120"/>
              </a:rPr>
              <a:t>Muhammad </a:t>
            </a:r>
            <a:r>
              <a:rPr lang="en-US" sz="1200" dirty="0" err="1" smtClean="0">
                <a:solidFill>
                  <a:srgbClr val="FFFFFF"/>
                </a:solidFill>
                <a:latin typeface="Calibri" pitchFamily="34" charset="0"/>
                <a:ea typeface="Calibri" pitchFamily="34" charset="-122"/>
                <a:cs typeface="Calibri" pitchFamily="34" charset="-120"/>
              </a:rPr>
              <a:t>Hassaan</a:t>
            </a:r>
            <a:r>
              <a:rPr lang="en-US" sz="1200" dirty="0" smtClean="0">
                <a:solidFill>
                  <a:srgbClr val="FFFFFF"/>
                </a:solidFill>
                <a:latin typeface="Calibri" pitchFamily="34" charset="0"/>
                <a:ea typeface="Calibri" pitchFamily="34" charset="-122"/>
                <a:cs typeface="Calibri" pitchFamily="34" charset="-120"/>
              </a:rPr>
              <a:t> Malik</a:t>
            </a:r>
            <a:endParaRPr lang="en-US" sz="1200" dirty="0"/>
          </a:p>
        </p:txBody>
      </p:sp>
      <p:sp>
        <p:nvSpPr>
          <p:cNvPr id="15" name="Text 13"/>
          <p:cNvSpPr/>
          <p:nvPr/>
        </p:nvSpPr>
        <p:spPr>
          <a:xfrm>
            <a:off x="5486400" y="3493008"/>
            <a:ext cx="31089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 Zubair Ansari</a:t>
            </a:r>
            <a:endParaRPr lang="en-US" sz="1200" dirty="0"/>
          </a:p>
        </p:txBody>
      </p:sp>
      <p:sp>
        <p:nvSpPr>
          <p:cNvPr id="16" name="Text 14"/>
          <p:cNvSpPr/>
          <p:nvPr/>
        </p:nvSpPr>
        <p:spPr>
          <a:xfrm>
            <a:off x="5486400" y="3895344"/>
            <a:ext cx="31089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 Abdur Raheem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5" name="Shape 3"/>
          <p:cNvSpPr/>
          <p:nvPr/>
        </p:nvSpPr>
        <p:spPr>
          <a:xfrm>
            <a:off x="365760" y="822960"/>
            <a:ext cx="4114800" cy="118872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65760" y="822960"/>
            <a:ext cx="566928" cy="1188720"/>
          </a:xfrm>
          <a:prstGeom prst="rect">
            <a:avLst/>
          </a:prstGeom>
          <a:solidFill>
            <a:srgbClr val="0A9396"/>
          </a:solidFill>
          <a:ln/>
        </p:spPr>
      </p:sp>
      <p:sp>
        <p:nvSpPr>
          <p:cNvPr id="7" name="Text 5"/>
          <p:cNvSpPr/>
          <p:nvPr/>
        </p:nvSpPr>
        <p:spPr>
          <a:xfrm>
            <a:off x="365760" y="822960"/>
            <a:ext cx="566928"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042416" y="932688"/>
            <a:ext cx="3337560" cy="365760"/>
          </a:xfrm>
          <a:prstGeom prst="rect">
            <a:avLst/>
          </a:prstGeom>
          <a:noFill/>
          <a:ln/>
        </p:spPr>
        <p:txBody>
          <a:bodyPr wrap="square" lIns="0" tIns="0" rIns="0" bIns="0" rtlCol="0" anchor="ctr"/>
          <a:lstStyle/>
          <a:p>
            <a:pPr marL="0" indent="0">
              <a:buNone/>
            </a:pPr>
            <a:r>
              <a:rPr lang="en-US" sz="1150" b="1" dirty="0">
                <a:solidFill>
                  <a:srgbClr val="0D2137"/>
                </a:solidFill>
                <a:latin typeface="Calibri" pitchFamily="34" charset="0"/>
                <a:ea typeface="Calibri" pitchFamily="34" charset="-122"/>
                <a:cs typeface="Calibri" pitchFamily="34" charset="-120"/>
              </a:rPr>
              <a:t>Problem Definition &amp; Business Case</a:t>
            </a:r>
            <a:endParaRPr lang="en-US" sz="1150" dirty="0"/>
          </a:p>
        </p:txBody>
      </p:sp>
      <p:sp>
        <p:nvSpPr>
          <p:cNvPr id="9" name="Text 7"/>
          <p:cNvSpPr/>
          <p:nvPr/>
        </p:nvSpPr>
        <p:spPr>
          <a:xfrm>
            <a:off x="1042416" y="1325880"/>
            <a:ext cx="3337560" cy="5943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Why CVD prediction matters, stakeholders, and project objectives</a:t>
            </a:r>
            <a:endParaRPr lang="en-US" sz="900" dirty="0"/>
          </a:p>
        </p:txBody>
      </p:sp>
      <p:sp>
        <p:nvSpPr>
          <p:cNvPr id="10" name="Shape 8"/>
          <p:cNvSpPr/>
          <p:nvPr/>
        </p:nvSpPr>
        <p:spPr>
          <a:xfrm>
            <a:off x="365760" y="2148840"/>
            <a:ext cx="4114800" cy="1188720"/>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365760" y="2148840"/>
            <a:ext cx="566928" cy="1188720"/>
          </a:xfrm>
          <a:prstGeom prst="rect">
            <a:avLst/>
          </a:prstGeom>
          <a:solidFill>
            <a:srgbClr val="0A9396"/>
          </a:solidFill>
          <a:ln/>
        </p:spPr>
      </p:sp>
      <p:sp>
        <p:nvSpPr>
          <p:cNvPr id="12" name="Text 10"/>
          <p:cNvSpPr/>
          <p:nvPr/>
        </p:nvSpPr>
        <p:spPr>
          <a:xfrm>
            <a:off x="365760" y="2148840"/>
            <a:ext cx="566928"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1042416" y="2258568"/>
            <a:ext cx="3337560" cy="365760"/>
          </a:xfrm>
          <a:prstGeom prst="rect">
            <a:avLst/>
          </a:prstGeom>
          <a:noFill/>
          <a:ln/>
        </p:spPr>
        <p:txBody>
          <a:bodyPr wrap="square" lIns="0" tIns="0" rIns="0" bIns="0" rtlCol="0" anchor="ctr"/>
          <a:lstStyle/>
          <a:p>
            <a:pPr marL="0" indent="0">
              <a:buNone/>
            </a:pPr>
            <a:r>
              <a:rPr lang="en-US" sz="1150" b="1" dirty="0">
                <a:solidFill>
                  <a:srgbClr val="0D2137"/>
                </a:solidFill>
                <a:latin typeface="Calibri" pitchFamily="34" charset="0"/>
                <a:ea typeface="Calibri" pitchFamily="34" charset="-122"/>
                <a:cs typeface="Calibri" pitchFamily="34" charset="-120"/>
              </a:rPr>
              <a:t>Dataset Description &amp; Data Environment</a:t>
            </a:r>
            <a:endParaRPr lang="en-US" sz="1150" dirty="0"/>
          </a:p>
        </p:txBody>
      </p:sp>
      <p:sp>
        <p:nvSpPr>
          <p:cNvPr id="14" name="Text 12"/>
          <p:cNvSpPr/>
          <p:nvPr/>
        </p:nvSpPr>
        <p:spPr>
          <a:xfrm>
            <a:off x="1042416" y="2651760"/>
            <a:ext cx="3337560" cy="5943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921-patient multi-site dataset, features, and class distribution</a:t>
            </a:r>
            <a:endParaRPr lang="en-US" sz="900" dirty="0"/>
          </a:p>
        </p:txBody>
      </p:sp>
      <p:sp>
        <p:nvSpPr>
          <p:cNvPr id="15" name="Shape 13"/>
          <p:cNvSpPr/>
          <p:nvPr/>
        </p:nvSpPr>
        <p:spPr>
          <a:xfrm>
            <a:off x="365760" y="3474720"/>
            <a:ext cx="4114800" cy="1188720"/>
          </a:xfrm>
          <a:prstGeom prst="rect">
            <a:avLst/>
          </a:prstGeom>
          <a:solidFill>
            <a:srgbClr val="FFFFFF"/>
          </a:solidFill>
          <a:ln/>
          <a:effectLst>
            <a:outerShdw blurRad="101600" dist="38100" dir="8100000" algn="bl" rotWithShape="0">
              <a:srgbClr val="000000">
                <a:alpha val="12000"/>
              </a:srgbClr>
            </a:outerShdw>
          </a:effectLst>
        </p:spPr>
      </p:sp>
      <p:sp>
        <p:nvSpPr>
          <p:cNvPr id="16" name="Shape 14"/>
          <p:cNvSpPr/>
          <p:nvPr/>
        </p:nvSpPr>
        <p:spPr>
          <a:xfrm>
            <a:off x="365760" y="3474720"/>
            <a:ext cx="566928" cy="1188720"/>
          </a:xfrm>
          <a:prstGeom prst="rect">
            <a:avLst/>
          </a:prstGeom>
          <a:solidFill>
            <a:srgbClr val="0A9396"/>
          </a:solidFill>
          <a:ln/>
        </p:spPr>
      </p:sp>
      <p:sp>
        <p:nvSpPr>
          <p:cNvPr id="17" name="Text 15"/>
          <p:cNvSpPr/>
          <p:nvPr/>
        </p:nvSpPr>
        <p:spPr>
          <a:xfrm>
            <a:off x="365760" y="3474720"/>
            <a:ext cx="566928"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1042416" y="3584448"/>
            <a:ext cx="3337560" cy="365760"/>
          </a:xfrm>
          <a:prstGeom prst="rect">
            <a:avLst/>
          </a:prstGeom>
          <a:noFill/>
          <a:ln/>
        </p:spPr>
        <p:txBody>
          <a:bodyPr wrap="square" lIns="0" tIns="0" rIns="0" bIns="0" rtlCol="0" anchor="ctr"/>
          <a:lstStyle/>
          <a:p>
            <a:pPr marL="0" indent="0">
              <a:buNone/>
            </a:pPr>
            <a:r>
              <a:rPr lang="en-US" sz="1150" b="1" dirty="0">
                <a:solidFill>
                  <a:srgbClr val="0D2137"/>
                </a:solidFill>
                <a:latin typeface="Calibri" pitchFamily="34" charset="0"/>
                <a:ea typeface="Calibri" pitchFamily="34" charset="-122"/>
                <a:cs typeface="Calibri" pitchFamily="34" charset="-120"/>
              </a:rPr>
              <a:t>Exploratory Data Analysis (EDA)</a:t>
            </a:r>
            <a:endParaRPr lang="en-US" sz="1150" dirty="0"/>
          </a:p>
        </p:txBody>
      </p:sp>
      <p:sp>
        <p:nvSpPr>
          <p:cNvPr id="19" name="Text 17"/>
          <p:cNvSpPr/>
          <p:nvPr/>
        </p:nvSpPr>
        <p:spPr>
          <a:xfrm>
            <a:off x="1042416" y="3977640"/>
            <a:ext cx="3337560" cy="5943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Clinical patterns, age-cholesterol profiling, and target distribution</a:t>
            </a:r>
            <a:endParaRPr lang="en-US" sz="900" dirty="0"/>
          </a:p>
        </p:txBody>
      </p:sp>
      <p:sp>
        <p:nvSpPr>
          <p:cNvPr id="20" name="Shape 18"/>
          <p:cNvSpPr/>
          <p:nvPr/>
        </p:nvSpPr>
        <p:spPr>
          <a:xfrm>
            <a:off x="4800600" y="822960"/>
            <a:ext cx="4114800" cy="1188720"/>
          </a:xfrm>
          <a:prstGeom prst="rect">
            <a:avLst/>
          </a:prstGeom>
          <a:solidFill>
            <a:srgbClr val="FFFFFF"/>
          </a:solidFill>
          <a:ln/>
          <a:effectLst>
            <a:outerShdw blurRad="101600" dist="38100" dir="8100000" algn="bl" rotWithShape="0">
              <a:srgbClr val="000000">
                <a:alpha val="12000"/>
              </a:srgbClr>
            </a:outerShdw>
          </a:effectLst>
        </p:spPr>
      </p:sp>
      <p:sp>
        <p:nvSpPr>
          <p:cNvPr id="21" name="Shape 19"/>
          <p:cNvSpPr/>
          <p:nvPr/>
        </p:nvSpPr>
        <p:spPr>
          <a:xfrm>
            <a:off x="4800600" y="822960"/>
            <a:ext cx="566928" cy="1188720"/>
          </a:xfrm>
          <a:prstGeom prst="rect">
            <a:avLst/>
          </a:prstGeom>
          <a:solidFill>
            <a:srgbClr val="0A9396"/>
          </a:solidFill>
          <a:ln/>
        </p:spPr>
      </p:sp>
      <p:sp>
        <p:nvSpPr>
          <p:cNvPr id="22" name="Text 20"/>
          <p:cNvSpPr/>
          <p:nvPr/>
        </p:nvSpPr>
        <p:spPr>
          <a:xfrm>
            <a:off x="4800600" y="822960"/>
            <a:ext cx="566928"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5477256" y="932688"/>
            <a:ext cx="3337560" cy="365760"/>
          </a:xfrm>
          <a:prstGeom prst="rect">
            <a:avLst/>
          </a:prstGeom>
          <a:noFill/>
          <a:ln/>
        </p:spPr>
        <p:txBody>
          <a:bodyPr wrap="square" lIns="0" tIns="0" rIns="0" bIns="0" rtlCol="0" anchor="ctr"/>
          <a:lstStyle/>
          <a:p>
            <a:pPr marL="0" indent="0">
              <a:buNone/>
            </a:pPr>
            <a:r>
              <a:rPr lang="en-US" sz="1150" b="1" dirty="0">
                <a:solidFill>
                  <a:srgbClr val="0D2137"/>
                </a:solidFill>
                <a:latin typeface="Calibri" pitchFamily="34" charset="0"/>
                <a:ea typeface="Calibri" pitchFamily="34" charset="-122"/>
                <a:cs typeface="Calibri" pitchFamily="34" charset="-120"/>
              </a:rPr>
              <a:t>Data Preprocessing &amp; Feature Engineering</a:t>
            </a:r>
            <a:endParaRPr lang="en-US" sz="1150" dirty="0"/>
          </a:p>
        </p:txBody>
      </p:sp>
      <p:sp>
        <p:nvSpPr>
          <p:cNvPr id="24" name="Text 22"/>
          <p:cNvSpPr/>
          <p:nvPr/>
        </p:nvSpPr>
        <p:spPr>
          <a:xfrm>
            <a:off x="5477256" y="1325880"/>
            <a:ext cx="3337560" cy="5943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MICE imputation, encoding, scaling, and stratified partitioning</a:t>
            </a:r>
            <a:endParaRPr lang="en-US" sz="900" dirty="0"/>
          </a:p>
        </p:txBody>
      </p:sp>
      <p:sp>
        <p:nvSpPr>
          <p:cNvPr id="25" name="Shape 23"/>
          <p:cNvSpPr/>
          <p:nvPr/>
        </p:nvSpPr>
        <p:spPr>
          <a:xfrm>
            <a:off x="4800600" y="2148840"/>
            <a:ext cx="4114800" cy="1188720"/>
          </a:xfrm>
          <a:prstGeom prst="rect">
            <a:avLst/>
          </a:prstGeom>
          <a:solidFill>
            <a:srgbClr val="FFFFFF"/>
          </a:solidFill>
          <a:ln/>
          <a:effectLst>
            <a:outerShdw blurRad="101600" dist="38100" dir="8100000" algn="bl" rotWithShape="0">
              <a:srgbClr val="000000">
                <a:alpha val="12000"/>
              </a:srgbClr>
            </a:outerShdw>
          </a:effectLst>
        </p:spPr>
      </p:sp>
      <p:sp>
        <p:nvSpPr>
          <p:cNvPr id="26" name="Shape 24"/>
          <p:cNvSpPr/>
          <p:nvPr/>
        </p:nvSpPr>
        <p:spPr>
          <a:xfrm>
            <a:off x="4800600" y="2148840"/>
            <a:ext cx="566928" cy="1188720"/>
          </a:xfrm>
          <a:prstGeom prst="rect">
            <a:avLst/>
          </a:prstGeom>
          <a:solidFill>
            <a:srgbClr val="0A9396"/>
          </a:solidFill>
          <a:ln/>
        </p:spPr>
      </p:sp>
      <p:sp>
        <p:nvSpPr>
          <p:cNvPr id="27" name="Text 25"/>
          <p:cNvSpPr/>
          <p:nvPr/>
        </p:nvSpPr>
        <p:spPr>
          <a:xfrm>
            <a:off x="4800600" y="2148840"/>
            <a:ext cx="566928"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5477256" y="2258568"/>
            <a:ext cx="3337560" cy="365760"/>
          </a:xfrm>
          <a:prstGeom prst="rect">
            <a:avLst/>
          </a:prstGeom>
          <a:noFill/>
          <a:ln/>
        </p:spPr>
        <p:txBody>
          <a:bodyPr wrap="square" lIns="0" tIns="0" rIns="0" bIns="0" rtlCol="0" anchor="ctr"/>
          <a:lstStyle/>
          <a:p>
            <a:pPr marL="0" indent="0">
              <a:buNone/>
            </a:pPr>
            <a:r>
              <a:rPr lang="en-US" sz="1150" b="1" dirty="0">
                <a:solidFill>
                  <a:srgbClr val="0D2137"/>
                </a:solidFill>
                <a:latin typeface="Calibri" pitchFamily="34" charset="0"/>
                <a:ea typeface="Calibri" pitchFamily="34" charset="-122"/>
                <a:cs typeface="Calibri" pitchFamily="34" charset="-120"/>
              </a:rPr>
              <a:t>Model Development &amp; Evaluation</a:t>
            </a:r>
            <a:endParaRPr lang="en-US" sz="1150" dirty="0"/>
          </a:p>
        </p:txBody>
      </p:sp>
      <p:sp>
        <p:nvSpPr>
          <p:cNvPr id="29" name="Text 27"/>
          <p:cNvSpPr/>
          <p:nvPr/>
        </p:nvSpPr>
        <p:spPr>
          <a:xfrm>
            <a:off x="5477256" y="2651760"/>
            <a:ext cx="3337560" cy="5943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Logistic Regression, Random Forest, XGBoost — Recall &amp; ROC-AUC</a:t>
            </a:r>
            <a:endParaRPr lang="en-US" sz="900" dirty="0"/>
          </a:p>
        </p:txBody>
      </p:sp>
      <p:sp>
        <p:nvSpPr>
          <p:cNvPr id="30" name="Shape 28"/>
          <p:cNvSpPr/>
          <p:nvPr/>
        </p:nvSpPr>
        <p:spPr>
          <a:xfrm>
            <a:off x="4800600" y="3474720"/>
            <a:ext cx="4114800" cy="1188720"/>
          </a:xfrm>
          <a:prstGeom prst="rect">
            <a:avLst/>
          </a:prstGeom>
          <a:solidFill>
            <a:srgbClr val="FFFFFF"/>
          </a:solidFill>
          <a:ln/>
          <a:effectLst>
            <a:outerShdw blurRad="101600" dist="38100" dir="8100000" algn="bl" rotWithShape="0">
              <a:srgbClr val="000000">
                <a:alpha val="12000"/>
              </a:srgbClr>
            </a:outerShdw>
          </a:effectLst>
        </p:spPr>
      </p:sp>
      <p:sp>
        <p:nvSpPr>
          <p:cNvPr id="31" name="Shape 29"/>
          <p:cNvSpPr/>
          <p:nvPr/>
        </p:nvSpPr>
        <p:spPr>
          <a:xfrm>
            <a:off x="4800600" y="3474720"/>
            <a:ext cx="566928" cy="1188720"/>
          </a:xfrm>
          <a:prstGeom prst="rect">
            <a:avLst/>
          </a:prstGeom>
          <a:solidFill>
            <a:srgbClr val="0A9396"/>
          </a:solidFill>
          <a:ln/>
        </p:spPr>
      </p:sp>
      <p:sp>
        <p:nvSpPr>
          <p:cNvPr id="32" name="Text 30"/>
          <p:cNvSpPr/>
          <p:nvPr/>
        </p:nvSpPr>
        <p:spPr>
          <a:xfrm>
            <a:off x="4800600" y="3474720"/>
            <a:ext cx="566928"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5477256" y="3584448"/>
            <a:ext cx="3337560" cy="365760"/>
          </a:xfrm>
          <a:prstGeom prst="rect">
            <a:avLst/>
          </a:prstGeom>
          <a:noFill/>
          <a:ln/>
        </p:spPr>
        <p:txBody>
          <a:bodyPr wrap="square" lIns="0" tIns="0" rIns="0" bIns="0" rtlCol="0" anchor="ctr"/>
          <a:lstStyle/>
          <a:p>
            <a:pPr marL="0" indent="0">
              <a:buNone/>
            </a:pPr>
            <a:r>
              <a:rPr lang="en-US" sz="1150" b="1" dirty="0">
                <a:solidFill>
                  <a:srgbClr val="0D2137"/>
                </a:solidFill>
                <a:latin typeface="Calibri" pitchFamily="34" charset="0"/>
                <a:ea typeface="Calibri" pitchFamily="34" charset="-122"/>
                <a:cs typeface="Calibri" pitchFamily="34" charset="-120"/>
              </a:rPr>
              <a:t>Business Interpretation &amp; Risk Stratification</a:t>
            </a:r>
            <a:endParaRPr lang="en-US" sz="1150" dirty="0"/>
          </a:p>
        </p:txBody>
      </p:sp>
      <p:sp>
        <p:nvSpPr>
          <p:cNvPr id="34" name="Text 32"/>
          <p:cNvSpPr/>
          <p:nvPr/>
        </p:nvSpPr>
        <p:spPr>
          <a:xfrm>
            <a:off x="5477256" y="3977640"/>
            <a:ext cx="3337560" cy="59436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3-tier triage engine mapping ML outputs to actionable care decisions</a:t>
            </a:r>
            <a:endParaRPr lang="en-US" sz="900" dirty="0"/>
          </a:p>
        </p:txBody>
      </p:sp>
      <p:sp>
        <p:nvSpPr>
          <p:cNvPr id="35" name="Shape 33"/>
          <p:cNvSpPr/>
          <p:nvPr/>
        </p:nvSpPr>
        <p:spPr>
          <a:xfrm>
            <a:off x="0" y="4892040"/>
            <a:ext cx="9144000" cy="251460"/>
          </a:xfrm>
          <a:prstGeom prst="rect">
            <a:avLst/>
          </a:prstGeom>
          <a:solidFill>
            <a:srgbClr val="0D2137"/>
          </a:solidFill>
          <a:ln/>
        </p:spPr>
      </p:sp>
      <p:sp>
        <p:nvSpPr>
          <p:cNvPr id="36" name="Text 34"/>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37" name="Text 35"/>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Definition &amp; Business Case</a:t>
            </a:r>
            <a:endParaRPr lang="en-US" sz="2200" dirty="0"/>
          </a:p>
        </p:txBody>
      </p:sp>
      <p:sp>
        <p:nvSpPr>
          <p:cNvPr id="5" name="Shape 3"/>
          <p:cNvSpPr/>
          <p:nvPr/>
        </p:nvSpPr>
        <p:spPr>
          <a:xfrm>
            <a:off x="320040" y="822960"/>
            <a:ext cx="4846320" cy="16916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20040" y="822960"/>
            <a:ext cx="4846320" cy="365760"/>
          </a:xfrm>
          <a:prstGeom prst="rect">
            <a:avLst/>
          </a:prstGeom>
          <a:solidFill>
            <a:srgbClr val="E63946"/>
          </a:solidFill>
          <a:ln/>
        </p:spPr>
      </p:sp>
      <p:sp>
        <p:nvSpPr>
          <p:cNvPr id="7" name="Text 5"/>
          <p:cNvSpPr/>
          <p:nvPr/>
        </p:nvSpPr>
        <p:spPr>
          <a:xfrm>
            <a:off x="320040" y="822960"/>
            <a:ext cx="48463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THE CLINICAL PROBLEM</a:t>
            </a:r>
            <a:endParaRPr lang="en-US" sz="1100" dirty="0"/>
          </a:p>
        </p:txBody>
      </p:sp>
      <p:sp>
        <p:nvSpPr>
          <p:cNvPr id="8" name="Text 6"/>
          <p:cNvSpPr/>
          <p:nvPr/>
        </p:nvSpPr>
        <p:spPr>
          <a:xfrm>
            <a:off x="457200" y="1234440"/>
            <a:ext cx="4572000" cy="118872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Cardiovascular diseases (CVDs) remain the leading cause of death globally, accounting for approximately 17.9 million deaths annually. Traditional clinical practice operates reactively — patients are only treated after suffering a major acute cardiac event such as a heart attack or stroke. This reactive model causes irreversible myocardial tissue damage, drives extremely high 30-day hospital readmission rates, and creates bottlenecks in emergency and diagnostic care units.</a:t>
            </a:r>
            <a:endParaRPr lang="en-US" sz="950" dirty="0"/>
          </a:p>
        </p:txBody>
      </p:sp>
      <p:sp>
        <p:nvSpPr>
          <p:cNvPr id="9" name="Shape 7"/>
          <p:cNvSpPr/>
          <p:nvPr/>
        </p:nvSpPr>
        <p:spPr>
          <a:xfrm>
            <a:off x="320040" y="2633472"/>
            <a:ext cx="4846320" cy="169164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320040" y="2633472"/>
            <a:ext cx="4846320" cy="365760"/>
          </a:xfrm>
          <a:prstGeom prst="rect">
            <a:avLst/>
          </a:prstGeom>
          <a:solidFill>
            <a:srgbClr val="0A9396"/>
          </a:solidFill>
          <a:ln/>
        </p:spPr>
      </p:sp>
      <p:sp>
        <p:nvSpPr>
          <p:cNvPr id="11" name="Text 9"/>
          <p:cNvSpPr/>
          <p:nvPr/>
        </p:nvSpPr>
        <p:spPr>
          <a:xfrm>
            <a:off x="320040" y="2633472"/>
            <a:ext cx="48463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THE BUSINESS OPPORTUNITY</a:t>
            </a:r>
            <a:endParaRPr lang="en-US" sz="1100" dirty="0"/>
          </a:p>
        </p:txBody>
      </p:sp>
      <p:sp>
        <p:nvSpPr>
          <p:cNvPr id="12" name="Text 10"/>
          <p:cNvSpPr/>
          <p:nvPr/>
        </p:nvSpPr>
        <p:spPr>
          <a:xfrm>
            <a:off x="457200" y="3044952"/>
            <a:ext cx="4572000" cy="118872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By deploying a machine learning-powered early warning system, clinical facilities can identify asymptomatic high-risk patients before acute onset. This shift to proactive preventative care directly reduces emergency critical care costs, minimizes unnecessary diagnostic screenings, optimizes ICU bed utilization, and enables a value-based healthcare delivery model that rewards outcomes over volume.</a:t>
            </a:r>
            <a:endParaRPr lang="en-US" sz="950" dirty="0"/>
          </a:p>
        </p:txBody>
      </p:sp>
      <p:sp>
        <p:nvSpPr>
          <p:cNvPr id="13" name="Text 11"/>
          <p:cNvSpPr/>
          <p:nvPr/>
        </p:nvSpPr>
        <p:spPr>
          <a:xfrm>
            <a:off x="5394960" y="804672"/>
            <a:ext cx="3429000" cy="292608"/>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Key Stakeholders</a:t>
            </a:r>
            <a:endParaRPr lang="en-US" sz="1200" dirty="0"/>
          </a:p>
        </p:txBody>
      </p:sp>
      <p:sp>
        <p:nvSpPr>
          <p:cNvPr id="14" name="Shape 12"/>
          <p:cNvSpPr/>
          <p:nvPr/>
        </p:nvSpPr>
        <p:spPr>
          <a:xfrm>
            <a:off x="5394960" y="1170432"/>
            <a:ext cx="3429000" cy="1097280"/>
          </a:xfrm>
          <a:prstGeom prst="rect">
            <a:avLst/>
          </a:prstGeom>
          <a:solidFill>
            <a:srgbClr val="FFFFFF"/>
          </a:solidFill>
          <a:ln/>
          <a:effectLst>
            <a:outerShdw blurRad="101600" dist="38100" dir="8100000" algn="bl" rotWithShape="0">
              <a:srgbClr val="000000">
                <a:alpha val="12000"/>
              </a:srgbClr>
            </a:outerShdw>
          </a:effectLst>
        </p:spPr>
      </p:sp>
      <p:sp>
        <p:nvSpPr>
          <p:cNvPr id="15" name="Text 13"/>
          <p:cNvSpPr/>
          <p:nvPr/>
        </p:nvSpPr>
        <p:spPr>
          <a:xfrm>
            <a:off x="5440680" y="1234440"/>
            <a:ext cx="54864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6035040" y="1243584"/>
            <a:ext cx="2697480" cy="292608"/>
          </a:xfrm>
          <a:prstGeom prst="rect">
            <a:avLst/>
          </a:prstGeom>
          <a:noFill/>
          <a:ln/>
        </p:spPr>
        <p:txBody>
          <a:bodyPr wrap="square" lIns="0" tIns="0" rIns="0" bIns="0" rtlCol="0" anchor="ctr"/>
          <a:lstStyle/>
          <a:p>
            <a:pPr marL="0" indent="0">
              <a:buNone/>
            </a:pPr>
            <a:r>
              <a:rPr lang="en-US" sz="1050" b="1" dirty="0">
                <a:solidFill>
                  <a:srgbClr val="0D2137"/>
                </a:solidFill>
                <a:latin typeface="Calibri" pitchFamily="34" charset="0"/>
                <a:ea typeface="Calibri" pitchFamily="34" charset="-122"/>
                <a:cs typeface="Calibri" pitchFamily="34" charset="-120"/>
              </a:rPr>
              <a:t>Clinicians &amp; Cardiologists</a:t>
            </a:r>
            <a:endParaRPr lang="en-US" sz="1050" dirty="0"/>
          </a:p>
        </p:txBody>
      </p:sp>
      <p:sp>
        <p:nvSpPr>
          <p:cNvPr id="17" name="Text 15"/>
          <p:cNvSpPr/>
          <p:nvPr/>
        </p:nvSpPr>
        <p:spPr>
          <a:xfrm>
            <a:off x="6035040" y="1554480"/>
            <a:ext cx="2697480" cy="6583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Require a transparent Clinical Decision Support System (CDSS) to objectively triage and prioritize patients by cardiac risk score before physical assessment.</a:t>
            </a:r>
            <a:endParaRPr lang="en-US" sz="850" dirty="0"/>
          </a:p>
        </p:txBody>
      </p:sp>
      <p:sp>
        <p:nvSpPr>
          <p:cNvPr id="18" name="Shape 16"/>
          <p:cNvSpPr/>
          <p:nvPr/>
        </p:nvSpPr>
        <p:spPr>
          <a:xfrm>
            <a:off x="5394960" y="2404872"/>
            <a:ext cx="3429000" cy="1097280"/>
          </a:xfrm>
          <a:prstGeom prst="rect">
            <a:avLst/>
          </a:prstGeom>
          <a:solidFill>
            <a:srgbClr val="FFFFFF"/>
          </a:solidFill>
          <a:ln/>
          <a:effectLst>
            <a:outerShdw blurRad="101600" dist="38100" dir="8100000" algn="bl" rotWithShape="0">
              <a:srgbClr val="000000">
                <a:alpha val="12000"/>
              </a:srgbClr>
            </a:outerShdw>
          </a:effectLst>
        </p:spPr>
      </p:sp>
      <p:sp>
        <p:nvSpPr>
          <p:cNvPr id="19" name="Text 17"/>
          <p:cNvSpPr/>
          <p:nvPr/>
        </p:nvSpPr>
        <p:spPr>
          <a:xfrm>
            <a:off x="5440680" y="2468880"/>
            <a:ext cx="54864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6035040" y="2478024"/>
            <a:ext cx="2697480" cy="292608"/>
          </a:xfrm>
          <a:prstGeom prst="rect">
            <a:avLst/>
          </a:prstGeom>
          <a:noFill/>
          <a:ln/>
        </p:spPr>
        <p:txBody>
          <a:bodyPr wrap="square" lIns="0" tIns="0" rIns="0" bIns="0" rtlCol="0" anchor="ctr"/>
          <a:lstStyle/>
          <a:p>
            <a:pPr marL="0" indent="0">
              <a:buNone/>
            </a:pPr>
            <a:r>
              <a:rPr lang="en-US" sz="1050" b="1" dirty="0">
                <a:solidFill>
                  <a:srgbClr val="0D2137"/>
                </a:solidFill>
                <a:latin typeface="Calibri" pitchFamily="34" charset="0"/>
                <a:ea typeface="Calibri" pitchFamily="34" charset="-122"/>
                <a:cs typeface="Calibri" pitchFamily="34" charset="-120"/>
              </a:rPr>
              <a:t>Hospital Administrators</a:t>
            </a:r>
            <a:endParaRPr lang="en-US" sz="1050" dirty="0"/>
          </a:p>
        </p:txBody>
      </p:sp>
      <p:sp>
        <p:nvSpPr>
          <p:cNvPr id="21" name="Text 19"/>
          <p:cNvSpPr/>
          <p:nvPr/>
        </p:nvSpPr>
        <p:spPr>
          <a:xfrm>
            <a:off x="6035040" y="2788920"/>
            <a:ext cx="2697480" cy="6583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Need population-level risk data to manage ICU bed capacity, staffing rosters, and catheterization lab scheduling efficiently.</a:t>
            </a:r>
            <a:endParaRPr lang="en-US" sz="850" dirty="0"/>
          </a:p>
        </p:txBody>
      </p:sp>
      <p:sp>
        <p:nvSpPr>
          <p:cNvPr id="22" name="Shape 20"/>
          <p:cNvSpPr/>
          <p:nvPr/>
        </p:nvSpPr>
        <p:spPr>
          <a:xfrm>
            <a:off x="5394960" y="3639312"/>
            <a:ext cx="3429000" cy="1097280"/>
          </a:xfrm>
          <a:prstGeom prst="rect">
            <a:avLst/>
          </a:prstGeom>
          <a:solidFill>
            <a:srgbClr val="FFFFFF"/>
          </a:solidFill>
          <a:ln/>
          <a:effectLst>
            <a:outerShdw blurRad="101600" dist="38100" dir="8100000" algn="bl" rotWithShape="0">
              <a:srgbClr val="000000">
                <a:alpha val="12000"/>
              </a:srgbClr>
            </a:outerShdw>
          </a:effectLst>
        </p:spPr>
      </p:sp>
      <p:sp>
        <p:nvSpPr>
          <p:cNvPr id="23" name="Text 21"/>
          <p:cNvSpPr/>
          <p:nvPr/>
        </p:nvSpPr>
        <p:spPr>
          <a:xfrm>
            <a:off x="5440680" y="3703320"/>
            <a:ext cx="54864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4" name="Text 22"/>
          <p:cNvSpPr/>
          <p:nvPr/>
        </p:nvSpPr>
        <p:spPr>
          <a:xfrm>
            <a:off x="6035040" y="3712464"/>
            <a:ext cx="2697480" cy="292608"/>
          </a:xfrm>
          <a:prstGeom prst="rect">
            <a:avLst/>
          </a:prstGeom>
          <a:noFill/>
          <a:ln/>
        </p:spPr>
        <p:txBody>
          <a:bodyPr wrap="square" lIns="0" tIns="0" rIns="0" bIns="0" rtlCol="0" anchor="ctr"/>
          <a:lstStyle/>
          <a:p>
            <a:pPr marL="0" indent="0">
              <a:buNone/>
            </a:pPr>
            <a:r>
              <a:rPr lang="en-US" sz="1050" b="1" dirty="0">
                <a:solidFill>
                  <a:srgbClr val="0D2137"/>
                </a:solidFill>
                <a:latin typeface="Calibri" pitchFamily="34" charset="0"/>
                <a:ea typeface="Calibri" pitchFamily="34" charset="-122"/>
                <a:cs typeface="Calibri" pitchFamily="34" charset="-120"/>
              </a:rPr>
              <a:t>Patients</a:t>
            </a:r>
            <a:endParaRPr lang="en-US" sz="1050" dirty="0"/>
          </a:p>
        </p:txBody>
      </p:sp>
      <p:sp>
        <p:nvSpPr>
          <p:cNvPr id="25" name="Text 23"/>
          <p:cNvSpPr/>
          <p:nvPr/>
        </p:nvSpPr>
        <p:spPr>
          <a:xfrm>
            <a:off x="6035040" y="4023360"/>
            <a:ext cx="2697480" cy="6583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Benefit from early, personalized interventions — lifestyle modification plans and preventive treatment — significantly improving quality of life outcomes.</a:t>
            </a:r>
            <a:endParaRPr lang="en-US" sz="850" dirty="0"/>
          </a:p>
        </p:txBody>
      </p:sp>
      <p:sp>
        <p:nvSpPr>
          <p:cNvPr id="26" name="Shape 24"/>
          <p:cNvSpPr/>
          <p:nvPr/>
        </p:nvSpPr>
        <p:spPr>
          <a:xfrm>
            <a:off x="0" y="4892040"/>
            <a:ext cx="9144000" cy="251460"/>
          </a:xfrm>
          <a:prstGeom prst="rect">
            <a:avLst/>
          </a:prstGeom>
          <a:solidFill>
            <a:srgbClr val="0D2137"/>
          </a:solidFill>
          <a:ln/>
        </p:spPr>
      </p:sp>
      <p:sp>
        <p:nvSpPr>
          <p:cNvPr id="27" name="Text 25"/>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28" name="Text 26"/>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Description &amp; Data Environment</a:t>
            </a:r>
            <a:endParaRPr lang="en-US" sz="2200" dirty="0"/>
          </a:p>
        </p:txBody>
      </p:sp>
      <p:sp>
        <p:nvSpPr>
          <p:cNvPr id="5" name="Shape 3"/>
          <p:cNvSpPr/>
          <p:nvPr/>
        </p:nvSpPr>
        <p:spPr>
          <a:xfrm>
            <a:off x="320040" y="822960"/>
            <a:ext cx="1920240" cy="960120"/>
          </a:xfrm>
          <a:prstGeom prst="rect">
            <a:avLst/>
          </a:prstGeom>
          <a:solidFill>
            <a:srgbClr val="0D2137"/>
          </a:solidFill>
          <a:ln/>
          <a:effectLst>
            <a:outerShdw blurRad="101600" dist="38100" dir="8100000" algn="bl" rotWithShape="0">
              <a:srgbClr val="000000">
                <a:alpha val="12000"/>
              </a:srgbClr>
            </a:outerShdw>
          </a:effectLst>
        </p:spPr>
      </p:sp>
      <p:sp>
        <p:nvSpPr>
          <p:cNvPr id="6" name="Text 4"/>
          <p:cNvSpPr/>
          <p:nvPr/>
        </p:nvSpPr>
        <p:spPr>
          <a:xfrm>
            <a:off x="320040" y="850392"/>
            <a:ext cx="1920240" cy="566928"/>
          </a:xfrm>
          <a:prstGeom prst="rect">
            <a:avLst/>
          </a:prstGeom>
          <a:noFill/>
          <a:ln/>
        </p:spPr>
        <p:txBody>
          <a:bodyPr wrap="square" lIns="0" tIns="0" rIns="0" bIns="0" rtlCol="0" anchor="ctr"/>
          <a:lstStyle/>
          <a:p>
            <a:pPr marL="0" indent="0" algn="ctr">
              <a:buNone/>
            </a:pPr>
            <a:r>
              <a:rPr lang="en-US" sz="3000" b="1" dirty="0">
                <a:solidFill>
                  <a:srgbClr val="0A9396"/>
                </a:solidFill>
                <a:latin typeface="Calibri" pitchFamily="34" charset="0"/>
                <a:ea typeface="Calibri" pitchFamily="34" charset="-122"/>
                <a:cs typeface="Calibri" pitchFamily="34" charset="-120"/>
              </a:rPr>
              <a:t>921</a:t>
            </a:r>
            <a:endParaRPr lang="en-US" sz="3000" dirty="0"/>
          </a:p>
        </p:txBody>
      </p:sp>
      <p:sp>
        <p:nvSpPr>
          <p:cNvPr id="7" name="Text 5"/>
          <p:cNvSpPr/>
          <p:nvPr/>
        </p:nvSpPr>
        <p:spPr>
          <a:xfrm>
            <a:off x="320040" y="1417320"/>
            <a:ext cx="1920240" cy="3017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Patient Records</a:t>
            </a:r>
            <a:endParaRPr lang="en-US" sz="900" dirty="0"/>
          </a:p>
        </p:txBody>
      </p:sp>
      <p:sp>
        <p:nvSpPr>
          <p:cNvPr id="8" name="Shape 6"/>
          <p:cNvSpPr/>
          <p:nvPr/>
        </p:nvSpPr>
        <p:spPr>
          <a:xfrm>
            <a:off x="2468880" y="822960"/>
            <a:ext cx="1920240" cy="960120"/>
          </a:xfrm>
          <a:prstGeom prst="rect">
            <a:avLst/>
          </a:prstGeom>
          <a:solidFill>
            <a:srgbClr val="0D2137"/>
          </a:solidFill>
          <a:ln/>
          <a:effectLst>
            <a:outerShdw blurRad="101600" dist="38100" dir="8100000" algn="bl" rotWithShape="0">
              <a:srgbClr val="000000">
                <a:alpha val="12000"/>
              </a:srgbClr>
            </a:outerShdw>
          </a:effectLst>
        </p:spPr>
      </p:sp>
      <p:sp>
        <p:nvSpPr>
          <p:cNvPr id="9" name="Text 7"/>
          <p:cNvSpPr/>
          <p:nvPr/>
        </p:nvSpPr>
        <p:spPr>
          <a:xfrm>
            <a:off x="2468880" y="850392"/>
            <a:ext cx="1920240" cy="566928"/>
          </a:xfrm>
          <a:prstGeom prst="rect">
            <a:avLst/>
          </a:prstGeom>
          <a:noFill/>
          <a:ln/>
        </p:spPr>
        <p:txBody>
          <a:bodyPr wrap="square" lIns="0" tIns="0" rIns="0" bIns="0" rtlCol="0" anchor="ctr"/>
          <a:lstStyle/>
          <a:p>
            <a:pPr marL="0" indent="0" algn="ctr">
              <a:buNone/>
            </a:pPr>
            <a:r>
              <a:rPr lang="en-US" sz="3000" b="1" dirty="0">
                <a:solidFill>
                  <a:srgbClr val="0A9396"/>
                </a:solidFill>
                <a:latin typeface="Calibri" pitchFamily="34" charset="0"/>
                <a:ea typeface="Calibri" pitchFamily="34" charset="-122"/>
                <a:cs typeface="Calibri" pitchFamily="34" charset="-120"/>
              </a:rPr>
              <a:t>4</a:t>
            </a:r>
            <a:endParaRPr lang="en-US" sz="3000" dirty="0"/>
          </a:p>
        </p:txBody>
      </p:sp>
      <p:sp>
        <p:nvSpPr>
          <p:cNvPr id="10" name="Text 8"/>
          <p:cNvSpPr/>
          <p:nvPr/>
        </p:nvSpPr>
        <p:spPr>
          <a:xfrm>
            <a:off x="2468880" y="1417320"/>
            <a:ext cx="1920240" cy="3017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Source Institutions</a:t>
            </a:r>
            <a:endParaRPr lang="en-US" sz="900" dirty="0"/>
          </a:p>
        </p:txBody>
      </p:sp>
      <p:sp>
        <p:nvSpPr>
          <p:cNvPr id="11" name="Shape 9"/>
          <p:cNvSpPr/>
          <p:nvPr/>
        </p:nvSpPr>
        <p:spPr>
          <a:xfrm>
            <a:off x="4617720" y="822960"/>
            <a:ext cx="1920240" cy="960120"/>
          </a:xfrm>
          <a:prstGeom prst="rect">
            <a:avLst/>
          </a:prstGeom>
          <a:solidFill>
            <a:srgbClr val="0D2137"/>
          </a:solidFill>
          <a:ln/>
          <a:effectLst>
            <a:outerShdw blurRad="101600" dist="38100" dir="8100000" algn="bl" rotWithShape="0">
              <a:srgbClr val="000000">
                <a:alpha val="12000"/>
              </a:srgbClr>
            </a:outerShdw>
          </a:effectLst>
        </p:spPr>
      </p:sp>
      <p:sp>
        <p:nvSpPr>
          <p:cNvPr id="12" name="Text 10"/>
          <p:cNvSpPr/>
          <p:nvPr/>
        </p:nvSpPr>
        <p:spPr>
          <a:xfrm>
            <a:off x="4617720" y="850392"/>
            <a:ext cx="1920240" cy="566928"/>
          </a:xfrm>
          <a:prstGeom prst="rect">
            <a:avLst/>
          </a:prstGeom>
          <a:noFill/>
          <a:ln/>
        </p:spPr>
        <p:txBody>
          <a:bodyPr wrap="square" lIns="0" tIns="0" rIns="0" bIns="0" rtlCol="0" anchor="ctr"/>
          <a:lstStyle/>
          <a:p>
            <a:pPr marL="0" indent="0" algn="ctr">
              <a:buNone/>
            </a:pPr>
            <a:r>
              <a:rPr lang="en-US" sz="3000" b="1" dirty="0">
                <a:solidFill>
                  <a:srgbClr val="0A9396"/>
                </a:solidFill>
                <a:latin typeface="Calibri" pitchFamily="34" charset="0"/>
                <a:ea typeface="Calibri" pitchFamily="34" charset="-122"/>
                <a:cs typeface="Calibri" pitchFamily="34" charset="-120"/>
              </a:rPr>
              <a:t>14</a:t>
            </a:r>
            <a:endParaRPr lang="en-US" sz="3000" dirty="0"/>
          </a:p>
        </p:txBody>
      </p:sp>
      <p:sp>
        <p:nvSpPr>
          <p:cNvPr id="13" name="Text 11"/>
          <p:cNvSpPr/>
          <p:nvPr/>
        </p:nvSpPr>
        <p:spPr>
          <a:xfrm>
            <a:off x="4617720" y="1417320"/>
            <a:ext cx="1920240" cy="3017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Raw Clinical Features</a:t>
            </a:r>
            <a:endParaRPr lang="en-US" sz="900" dirty="0"/>
          </a:p>
        </p:txBody>
      </p:sp>
      <p:sp>
        <p:nvSpPr>
          <p:cNvPr id="14" name="Shape 12"/>
          <p:cNvSpPr/>
          <p:nvPr/>
        </p:nvSpPr>
        <p:spPr>
          <a:xfrm>
            <a:off x="6766560" y="822960"/>
            <a:ext cx="1920240" cy="960120"/>
          </a:xfrm>
          <a:prstGeom prst="rect">
            <a:avLst/>
          </a:prstGeom>
          <a:solidFill>
            <a:srgbClr val="0D2137"/>
          </a:solidFill>
          <a:ln/>
          <a:effectLst>
            <a:outerShdw blurRad="101600" dist="38100" dir="8100000" algn="bl" rotWithShape="0">
              <a:srgbClr val="000000">
                <a:alpha val="12000"/>
              </a:srgbClr>
            </a:outerShdw>
          </a:effectLst>
        </p:spPr>
      </p:sp>
      <p:sp>
        <p:nvSpPr>
          <p:cNvPr id="15" name="Text 13"/>
          <p:cNvSpPr/>
          <p:nvPr/>
        </p:nvSpPr>
        <p:spPr>
          <a:xfrm>
            <a:off x="6766560" y="850392"/>
            <a:ext cx="1920240" cy="566928"/>
          </a:xfrm>
          <a:prstGeom prst="rect">
            <a:avLst/>
          </a:prstGeom>
          <a:noFill/>
          <a:ln/>
        </p:spPr>
        <p:txBody>
          <a:bodyPr wrap="square" lIns="0" tIns="0" rIns="0" bIns="0" rtlCol="0" anchor="ctr"/>
          <a:lstStyle/>
          <a:p>
            <a:pPr marL="0" indent="0" algn="ctr">
              <a:buNone/>
            </a:pPr>
            <a:r>
              <a:rPr lang="en-US" sz="3000" b="1" dirty="0">
                <a:solidFill>
                  <a:srgbClr val="0A9396"/>
                </a:solidFill>
                <a:latin typeface="Calibri" pitchFamily="34" charset="0"/>
                <a:ea typeface="Calibri" pitchFamily="34" charset="-122"/>
                <a:cs typeface="Calibri" pitchFamily="34" charset="-120"/>
              </a:rPr>
              <a:t>55%</a:t>
            </a:r>
            <a:endParaRPr lang="en-US" sz="3000" dirty="0"/>
          </a:p>
        </p:txBody>
      </p:sp>
      <p:sp>
        <p:nvSpPr>
          <p:cNvPr id="16" name="Text 14"/>
          <p:cNvSpPr/>
          <p:nvPr/>
        </p:nvSpPr>
        <p:spPr>
          <a:xfrm>
            <a:off x="6766560" y="1417320"/>
            <a:ext cx="1920240" cy="30175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Disease Prevalence</a:t>
            </a:r>
            <a:endParaRPr lang="en-US" sz="900" dirty="0"/>
          </a:p>
        </p:txBody>
      </p:sp>
      <p:sp>
        <p:nvSpPr>
          <p:cNvPr id="17" name="Shape 15"/>
          <p:cNvSpPr/>
          <p:nvPr/>
        </p:nvSpPr>
        <p:spPr>
          <a:xfrm>
            <a:off x="320040" y="1892808"/>
            <a:ext cx="8503920" cy="347472"/>
          </a:xfrm>
          <a:prstGeom prst="rect">
            <a:avLst/>
          </a:prstGeom>
          <a:solidFill>
            <a:srgbClr val="0D2F4A"/>
          </a:solidFill>
          <a:ln/>
          <a:effectLst>
            <a:outerShdw blurRad="101600" dist="38100" dir="8100000" algn="bl" rotWithShape="0">
              <a:srgbClr val="000000">
                <a:alpha val="12000"/>
              </a:srgbClr>
            </a:outerShdw>
          </a:effectLst>
        </p:spPr>
      </p:sp>
      <p:sp>
        <p:nvSpPr>
          <p:cNvPr id="18" name="Text 16"/>
          <p:cNvSpPr/>
          <p:nvPr/>
        </p:nvSpPr>
        <p:spPr>
          <a:xfrm>
            <a:off x="457200" y="1901952"/>
            <a:ext cx="8229600" cy="329184"/>
          </a:xfrm>
          <a:prstGeom prst="rect">
            <a:avLst/>
          </a:prstGeom>
          <a:noFill/>
          <a:ln/>
        </p:spPr>
        <p:txBody>
          <a:bodyPr wrap="square" lIns="0" tIns="0" rIns="0" bIns="0" rtlCol="0" anchor="ctr"/>
          <a:lstStyle/>
          <a:p>
            <a:pPr marL="0" indent="0">
              <a:buNone/>
            </a:pPr>
            <a:r>
              <a:rPr lang="en-US" sz="900" dirty="0">
                <a:solidFill>
                  <a:srgbClr val="94D2BD"/>
                </a:solidFill>
                <a:latin typeface="Calibri" pitchFamily="34" charset="0"/>
                <a:ea typeface="Calibri" pitchFamily="34" charset="-122"/>
                <a:cs typeface="Calibri" pitchFamily="34" charset="-120"/>
              </a:rPr>
              <a:t>📍  Data compiled from: Cleveland Clinic (USA)  ·  Hungarian Institute of Cardiology (Budapest)  ·  University Hospital of Zurich (Switzerland)  ·  VA Medical Center Long Beach (California)</a:t>
            </a:r>
            <a:endParaRPr lang="en-US" sz="900" dirty="0"/>
          </a:p>
        </p:txBody>
      </p:sp>
      <p:sp>
        <p:nvSpPr>
          <p:cNvPr id="19" name="Text 17"/>
          <p:cNvSpPr/>
          <p:nvPr/>
        </p:nvSpPr>
        <p:spPr>
          <a:xfrm>
            <a:off x="320040" y="2359152"/>
            <a:ext cx="502920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Clinical Feature Matrix</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2697480"/>
          <a:ext cx="5166360" cy="2522220"/>
        </p:xfrm>
        <a:graphic>
          <a:graphicData uri="http://schemas.openxmlformats.org/drawingml/2006/table">
            <a:tbl>
              <a:tblPr/>
              <a:tblGrid>
                <a:gridCol w="1722120"/>
                <a:gridCol w="1722120"/>
                <a:gridCol w="1722120"/>
              </a:tblGrid>
              <a:tr h="19659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Feature</a:t>
                      </a:r>
                      <a:endParaRPr lang="en-US" sz="9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9396"/>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Description</a:t>
                      </a:r>
                      <a:endParaRPr lang="en-US" sz="9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9396"/>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Range / Type</a:t>
                      </a:r>
                      <a:endParaRPr lang="en-US" sz="9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9396"/>
                    </a:solidFill>
                  </a:tcPr>
                </a:tc>
              </a:tr>
              <a:tr h="196596">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age</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Patient age in years</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29 – 77 yrs</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196596">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sex</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Biological sex</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Male / Female</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196596">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cp</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Chest pain type</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0 = Typical Angina, 1-3 = Other</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196596">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trestbps</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Resting blood pressure</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94 – 200 mmHg</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196596">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chol</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Serum cholesterol</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126 – 564 mg/dl</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196596">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fbs</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Fasting blood sugar &gt; 120</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True / False</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196596">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restecg</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Resting ECG results</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0 = Normal, 1-2 = Abnormal</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196596">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thalach</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Max heart rate achieved</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71 – 202 bpm</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196596">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exang</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Exercise-induced angina</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buNone/>
                      </a:pPr>
                      <a:r>
                        <a:rPr lang="en-US" sz="900" dirty="0">
                          <a:solidFill>
                            <a:srgbClr val="374151"/>
                          </a:solidFill>
                          <a:latin typeface="Calibri" pitchFamily="34" charset="0"/>
                          <a:ea typeface="Calibri" pitchFamily="34" charset="-122"/>
                          <a:cs typeface="Calibri" pitchFamily="34" charset="-120"/>
                        </a:rPr>
                        <a:t>Yes / No</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196596">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oldpeak</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ST depression (exercise vs rest)</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0 – 6.2</a:t>
                      </a:r>
                      <a:endParaRPr lang="en-US" sz="9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1" name="Shape 18"/>
          <p:cNvSpPr/>
          <p:nvPr/>
        </p:nvSpPr>
        <p:spPr>
          <a:xfrm>
            <a:off x="5715000" y="2359152"/>
            <a:ext cx="3108960" cy="2441448"/>
          </a:xfrm>
          <a:prstGeom prst="rect">
            <a:avLst/>
          </a:prstGeom>
          <a:solidFill>
            <a:srgbClr val="FFFFFF"/>
          </a:solidFill>
          <a:ln/>
          <a:effectLst>
            <a:outerShdw blurRad="101600" dist="38100" dir="8100000" algn="bl" rotWithShape="0">
              <a:srgbClr val="000000">
                <a:alpha val="12000"/>
              </a:srgbClr>
            </a:outerShdw>
          </a:effectLst>
        </p:spPr>
      </p:sp>
      <p:sp>
        <p:nvSpPr>
          <p:cNvPr id="22" name="Shape 19"/>
          <p:cNvSpPr/>
          <p:nvPr/>
        </p:nvSpPr>
        <p:spPr>
          <a:xfrm>
            <a:off x="5715000" y="2359152"/>
            <a:ext cx="3108960" cy="347472"/>
          </a:xfrm>
          <a:prstGeom prst="rect">
            <a:avLst/>
          </a:prstGeom>
          <a:solidFill>
            <a:srgbClr val="F4A261"/>
          </a:solidFill>
          <a:ln/>
        </p:spPr>
      </p:sp>
      <p:sp>
        <p:nvSpPr>
          <p:cNvPr id="23" name="Text 20"/>
          <p:cNvSpPr/>
          <p:nvPr/>
        </p:nvSpPr>
        <p:spPr>
          <a:xfrm>
            <a:off x="5715000" y="2359152"/>
            <a:ext cx="31089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Data Quality Challenges</a:t>
            </a:r>
            <a:endParaRPr lang="en-US" sz="1000" dirty="0"/>
          </a:p>
        </p:txBody>
      </p:sp>
      <p:sp>
        <p:nvSpPr>
          <p:cNvPr id="24" name="Text 21"/>
          <p:cNvSpPr/>
          <p:nvPr/>
        </p:nvSpPr>
        <p:spPr>
          <a:xfrm>
            <a:off x="5833872" y="2779776"/>
            <a:ext cx="2871216" cy="193852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Two features had extreme missingness across the consolidated 921-row dataset:</a:t>
            </a:r>
            <a:endParaRPr lang="en-US" sz="850" dirty="0"/>
          </a:p>
          <a:p>
            <a:pPr marL="0" indent="0">
              <a:buNone/>
            </a:pP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ca (coronary fluoroscopy vessel count)</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611 missing values  =  66.3% absent</a:t>
            </a:r>
            <a:endParaRPr lang="en-US" sz="850" dirty="0"/>
          </a:p>
          <a:p>
            <a:pPr marL="0" indent="0">
              <a:buNone/>
            </a:pP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thal (thalassemia blood disorder type)</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486 missing values  =  52.8% absent</a:t>
            </a:r>
            <a:endParaRPr lang="en-US" sz="850" dirty="0"/>
          </a:p>
          <a:p>
            <a:pPr marL="0" indent="0">
              <a:buNone/>
            </a:pP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DECISION: Both features permanently DROPPED from the feature matrix. Retaining them would introduce severe imputation artifacts and distort model calibration.</a:t>
            </a:r>
            <a:endParaRPr lang="en-US" sz="850" dirty="0"/>
          </a:p>
        </p:txBody>
      </p:sp>
      <p:sp>
        <p:nvSpPr>
          <p:cNvPr id="25" name="Shape 22"/>
          <p:cNvSpPr/>
          <p:nvPr/>
        </p:nvSpPr>
        <p:spPr>
          <a:xfrm>
            <a:off x="0" y="4892040"/>
            <a:ext cx="9144000" cy="251460"/>
          </a:xfrm>
          <a:prstGeom prst="rect">
            <a:avLst/>
          </a:prstGeom>
          <a:solidFill>
            <a:srgbClr val="0D2137"/>
          </a:solidFill>
          <a:ln/>
        </p:spPr>
      </p:sp>
      <p:sp>
        <p:nvSpPr>
          <p:cNvPr id="26" name="Text 23"/>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27" name="Text 24"/>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Exploratory Data Analysis (EDA)</a:t>
            </a:r>
            <a:endParaRPr lang="en-US" sz="2200" dirty="0"/>
          </a:p>
        </p:txBody>
      </p:sp>
      <p:sp>
        <p:nvSpPr>
          <p:cNvPr id="5" name="Shape 3"/>
          <p:cNvSpPr/>
          <p:nvPr/>
        </p:nvSpPr>
        <p:spPr>
          <a:xfrm>
            <a:off x="320040" y="822960"/>
            <a:ext cx="2697480" cy="19202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20040" y="822960"/>
            <a:ext cx="2697480" cy="384048"/>
          </a:xfrm>
          <a:prstGeom prst="rect">
            <a:avLst/>
          </a:prstGeom>
          <a:solidFill>
            <a:srgbClr val="0A9396"/>
          </a:solidFill>
          <a:ln/>
        </p:spPr>
      </p:sp>
      <p:sp>
        <p:nvSpPr>
          <p:cNvPr id="7" name="Text 5"/>
          <p:cNvSpPr/>
          <p:nvPr/>
        </p:nvSpPr>
        <p:spPr>
          <a:xfrm>
            <a:off x="393192" y="822960"/>
            <a:ext cx="2560320"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Target Class Distribution</a:t>
            </a:r>
            <a:endParaRPr lang="en-US" sz="950" dirty="0"/>
          </a:p>
        </p:txBody>
      </p:sp>
      <p:sp>
        <p:nvSpPr>
          <p:cNvPr id="8" name="Text 6"/>
          <p:cNvSpPr/>
          <p:nvPr/>
        </p:nvSpPr>
        <p:spPr>
          <a:xfrm>
            <a:off x="411480" y="1252728"/>
            <a:ext cx="2542032" cy="1435608"/>
          </a:xfrm>
          <a:prstGeom prst="rect">
            <a:avLst/>
          </a:prstGeom>
          <a:noFill/>
          <a:ln/>
        </p:spPr>
        <p:txBody>
          <a:bodyPr wrap="square" lIns="0" tIns="0" rIns="0" bIns="0" rtlCol="0" anchor="t"/>
          <a:lstStyle/>
          <a:p>
            <a:pPr marL="0" indent="0">
              <a:buNone/>
            </a:pPr>
            <a:r>
              <a:rPr lang="en-US" sz="800" dirty="0">
                <a:solidFill>
                  <a:srgbClr val="1E293B"/>
                </a:solidFill>
                <a:latin typeface="Calibri" pitchFamily="34" charset="0"/>
                <a:ea typeface="Calibri" pitchFamily="34" charset="-122"/>
                <a:cs typeface="Calibri" pitchFamily="34" charset="-120"/>
              </a:rPr>
              <a:t>After binarization, the dataset contains approximately 411 healthy patients (45%) and 510 disease-positive patients (55%). The mild class imbalance is manageable and does not require synthetic oversampling techniques like SMOTE, but it informs our choice of Recall as the primary evaluation metric.</a:t>
            </a:r>
            <a:endParaRPr lang="en-US" sz="800" dirty="0"/>
          </a:p>
        </p:txBody>
      </p:sp>
      <p:sp>
        <p:nvSpPr>
          <p:cNvPr id="9" name="Shape 7"/>
          <p:cNvSpPr/>
          <p:nvPr/>
        </p:nvSpPr>
        <p:spPr>
          <a:xfrm>
            <a:off x="3200400" y="822960"/>
            <a:ext cx="2697480" cy="192024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3200400" y="822960"/>
            <a:ext cx="2697480" cy="384048"/>
          </a:xfrm>
          <a:prstGeom prst="rect">
            <a:avLst/>
          </a:prstGeom>
          <a:solidFill>
            <a:srgbClr val="5E60CE"/>
          </a:solidFill>
          <a:ln/>
        </p:spPr>
      </p:sp>
      <p:sp>
        <p:nvSpPr>
          <p:cNvPr id="11" name="Text 9"/>
          <p:cNvSpPr/>
          <p:nvPr/>
        </p:nvSpPr>
        <p:spPr>
          <a:xfrm>
            <a:off x="3273552" y="822960"/>
            <a:ext cx="2560320"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Age &amp; Gender Patterns</a:t>
            </a:r>
            <a:endParaRPr lang="en-US" sz="950" dirty="0"/>
          </a:p>
        </p:txBody>
      </p:sp>
      <p:sp>
        <p:nvSpPr>
          <p:cNvPr id="12" name="Text 10"/>
          <p:cNvSpPr/>
          <p:nvPr/>
        </p:nvSpPr>
        <p:spPr>
          <a:xfrm>
            <a:off x="3291840" y="1252728"/>
            <a:ext cx="2542032" cy="1435608"/>
          </a:xfrm>
          <a:prstGeom prst="rect">
            <a:avLst/>
          </a:prstGeom>
          <a:noFill/>
          <a:ln/>
        </p:spPr>
        <p:txBody>
          <a:bodyPr wrap="square" lIns="0" tIns="0" rIns="0" bIns="0" rtlCol="0" anchor="t"/>
          <a:lstStyle/>
          <a:p>
            <a:pPr marL="0" indent="0">
              <a:buNone/>
            </a:pPr>
            <a:r>
              <a:rPr lang="en-US" sz="800" dirty="0">
                <a:solidFill>
                  <a:srgbClr val="1E293B"/>
                </a:solidFill>
                <a:latin typeface="Calibri" pitchFamily="34" charset="0"/>
                <a:ea typeface="Calibri" pitchFamily="34" charset="-122"/>
                <a:cs typeface="Calibri" pitchFamily="34" charset="-120"/>
              </a:rPr>
              <a:t>Disease prevalence peaks in the 50–65 age group. Male patients represent a disproportionately higher share of positive cases. Younger patients (&lt;40 years) show predominantly healthy profiles, reinforcing age and sex as important predictive signals in the feature matrix.</a:t>
            </a:r>
            <a:endParaRPr lang="en-US" sz="800" dirty="0"/>
          </a:p>
        </p:txBody>
      </p:sp>
      <p:sp>
        <p:nvSpPr>
          <p:cNvPr id="13" name="Shape 11"/>
          <p:cNvSpPr/>
          <p:nvPr/>
        </p:nvSpPr>
        <p:spPr>
          <a:xfrm>
            <a:off x="6080760" y="822960"/>
            <a:ext cx="2697480" cy="1920240"/>
          </a:xfrm>
          <a:prstGeom prst="rect">
            <a:avLst/>
          </a:prstGeom>
          <a:solidFill>
            <a:srgbClr val="FFFFFF"/>
          </a:solidFill>
          <a:ln/>
          <a:effectLst>
            <a:outerShdw blurRad="101600" dist="38100" dir="8100000" algn="bl" rotWithShape="0">
              <a:srgbClr val="000000">
                <a:alpha val="12000"/>
              </a:srgbClr>
            </a:outerShdw>
          </a:effectLst>
        </p:spPr>
      </p:sp>
      <p:sp>
        <p:nvSpPr>
          <p:cNvPr id="14" name="Shape 12"/>
          <p:cNvSpPr/>
          <p:nvPr/>
        </p:nvSpPr>
        <p:spPr>
          <a:xfrm>
            <a:off x="6080760" y="822960"/>
            <a:ext cx="2697480" cy="384048"/>
          </a:xfrm>
          <a:prstGeom prst="rect">
            <a:avLst/>
          </a:prstGeom>
          <a:solidFill>
            <a:srgbClr val="F4A261"/>
          </a:solidFill>
          <a:ln/>
        </p:spPr>
      </p:sp>
      <p:sp>
        <p:nvSpPr>
          <p:cNvPr id="15" name="Text 13"/>
          <p:cNvSpPr/>
          <p:nvPr/>
        </p:nvSpPr>
        <p:spPr>
          <a:xfrm>
            <a:off x="6153912" y="822960"/>
            <a:ext cx="2560320"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Cholesterol &amp; Blood Pressure</a:t>
            </a:r>
            <a:endParaRPr lang="en-US" sz="950" dirty="0"/>
          </a:p>
        </p:txBody>
      </p:sp>
      <p:sp>
        <p:nvSpPr>
          <p:cNvPr id="16" name="Text 14"/>
          <p:cNvSpPr/>
          <p:nvPr/>
        </p:nvSpPr>
        <p:spPr>
          <a:xfrm>
            <a:off x="6172200" y="1252728"/>
            <a:ext cx="2542032" cy="1435608"/>
          </a:xfrm>
          <a:prstGeom prst="rect">
            <a:avLst/>
          </a:prstGeom>
          <a:noFill/>
          <a:ln/>
        </p:spPr>
        <p:txBody>
          <a:bodyPr wrap="square" lIns="0" tIns="0" rIns="0" bIns="0" rtlCol="0" anchor="t"/>
          <a:lstStyle/>
          <a:p>
            <a:pPr marL="0" indent="0">
              <a:buNone/>
            </a:pPr>
            <a:r>
              <a:rPr lang="en-US" sz="800" dirty="0">
                <a:solidFill>
                  <a:srgbClr val="1E293B"/>
                </a:solidFill>
                <a:latin typeface="Calibri" pitchFamily="34" charset="0"/>
                <a:ea typeface="Calibri" pitchFamily="34" charset="-122"/>
                <a:cs typeface="Calibri" pitchFamily="34" charset="-120"/>
              </a:rPr>
              <a:t>Serum cholesterol values range from 126–564 mg/dl. Moderate positive correlation observed between cholesterol and disease status. Resting blood pressure (trestbps) shows 59 missing values, later imputed using MICE to preserve sample volume without bias.</a:t>
            </a:r>
            <a:endParaRPr lang="en-US" sz="800" dirty="0"/>
          </a:p>
        </p:txBody>
      </p:sp>
      <p:sp>
        <p:nvSpPr>
          <p:cNvPr id="17" name="Shape 15"/>
          <p:cNvSpPr/>
          <p:nvPr/>
        </p:nvSpPr>
        <p:spPr>
          <a:xfrm>
            <a:off x="320040" y="2834640"/>
            <a:ext cx="2697480" cy="192024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320040" y="2834640"/>
            <a:ext cx="2697480" cy="384048"/>
          </a:xfrm>
          <a:prstGeom prst="rect">
            <a:avLst/>
          </a:prstGeom>
          <a:solidFill>
            <a:srgbClr val="E63946"/>
          </a:solidFill>
          <a:ln/>
        </p:spPr>
      </p:sp>
      <p:sp>
        <p:nvSpPr>
          <p:cNvPr id="19" name="Text 17"/>
          <p:cNvSpPr/>
          <p:nvPr/>
        </p:nvSpPr>
        <p:spPr>
          <a:xfrm>
            <a:off x="393192" y="2834640"/>
            <a:ext cx="2560320"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Max Heart Rate (thalach)</a:t>
            </a:r>
            <a:endParaRPr lang="en-US" sz="950" dirty="0"/>
          </a:p>
        </p:txBody>
      </p:sp>
      <p:sp>
        <p:nvSpPr>
          <p:cNvPr id="20" name="Text 18"/>
          <p:cNvSpPr/>
          <p:nvPr/>
        </p:nvSpPr>
        <p:spPr>
          <a:xfrm>
            <a:off x="411480" y="3264408"/>
            <a:ext cx="2542032" cy="1435608"/>
          </a:xfrm>
          <a:prstGeom prst="rect">
            <a:avLst/>
          </a:prstGeom>
          <a:noFill/>
          <a:ln/>
        </p:spPr>
        <p:txBody>
          <a:bodyPr wrap="square" lIns="0" tIns="0" rIns="0" bIns="0" rtlCol="0" anchor="t"/>
          <a:lstStyle/>
          <a:p>
            <a:pPr marL="0" indent="0">
              <a:buNone/>
            </a:pPr>
            <a:r>
              <a:rPr lang="en-US" sz="800" dirty="0">
                <a:solidFill>
                  <a:srgbClr val="1E293B"/>
                </a:solidFill>
                <a:latin typeface="Calibri" pitchFamily="34" charset="0"/>
                <a:ea typeface="Calibri" pitchFamily="34" charset="-122"/>
                <a:cs typeface="Calibri" pitchFamily="34" charset="-120"/>
              </a:rPr>
              <a:t>One of the strongest single predictors. Patients with heart disease consistently exhibit lower maximum heart rate during exercise stress tests. This physiological marker is a critical differentiator between healthy and at-risk patient profiles across all four source institutions.</a:t>
            </a:r>
            <a:endParaRPr lang="en-US" sz="800" dirty="0"/>
          </a:p>
        </p:txBody>
      </p:sp>
      <p:sp>
        <p:nvSpPr>
          <p:cNvPr id="21" name="Shape 19"/>
          <p:cNvSpPr/>
          <p:nvPr/>
        </p:nvSpPr>
        <p:spPr>
          <a:xfrm>
            <a:off x="3200400" y="2834640"/>
            <a:ext cx="2697480" cy="1920240"/>
          </a:xfrm>
          <a:prstGeom prst="rect">
            <a:avLst/>
          </a:prstGeom>
          <a:solidFill>
            <a:srgbClr val="FFFFFF"/>
          </a:solidFill>
          <a:ln/>
          <a:effectLst>
            <a:outerShdw blurRad="101600" dist="38100" dir="8100000" algn="bl" rotWithShape="0">
              <a:srgbClr val="000000">
                <a:alpha val="12000"/>
              </a:srgbClr>
            </a:outerShdw>
          </a:effectLst>
        </p:spPr>
      </p:sp>
      <p:sp>
        <p:nvSpPr>
          <p:cNvPr id="22" name="Shape 20"/>
          <p:cNvSpPr/>
          <p:nvPr/>
        </p:nvSpPr>
        <p:spPr>
          <a:xfrm>
            <a:off x="3200400" y="2834640"/>
            <a:ext cx="2697480" cy="384048"/>
          </a:xfrm>
          <a:prstGeom prst="rect">
            <a:avLst/>
          </a:prstGeom>
          <a:solidFill>
            <a:srgbClr val="028090"/>
          </a:solidFill>
          <a:ln/>
        </p:spPr>
      </p:sp>
      <p:sp>
        <p:nvSpPr>
          <p:cNvPr id="23" name="Text 21"/>
          <p:cNvSpPr/>
          <p:nvPr/>
        </p:nvSpPr>
        <p:spPr>
          <a:xfrm>
            <a:off x="3273552" y="2834640"/>
            <a:ext cx="2560320"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ST Depression (oldpeak)</a:t>
            </a:r>
            <a:endParaRPr lang="en-US" sz="950" dirty="0"/>
          </a:p>
        </p:txBody>
      </p:sp>
      <p:sp>
        <p:nvSpPr>
          <p:cNvPr id="24" name="Text 22"/>
          <p:cNvSpPr/>
          <p:nvPr/>
        </p:nvSpPr>
        <p:spPr>
          <a:xfrm>
            <a:off x="3291840" y="3264408"/>
            <a:ext cx="2542032" cy="1435608"/>
          </a:xfrm>
          <a:prstGeom prst="rect">
            <a:avLst/>
          </a:prstGeom>
          <a:noFill/>
          <a:ln/>
        </p:spPr>
        <p:txBody>
          <a:bodyPr wrap="square" lIns="0" tIns="0" rIns="0" bIns="0" rtlCol="0" anchor="t"/>
          <a:lstStyle/>
          <a:p>
            <a:pPr marL="0" indent="0">
              <a:buNone/>
            </a:pPr>
            <a:r>
              <a:rPr lang="en-US" sz="800" dirty="0">
                <a:solidFill>
                  <a:srgbClr val="1E293B"/>
                </a:solidFill>
                <a:latin typeface="Calibri" pitchFamily="34" charset="0"/>
                <a:ea typeface="Calibri" pitchFamily="34" charset="-122"/>
                <a:cs typeface="Calibri" pitchFamily="34" charset="-120"/>
              </a:rPr>
              <a:t>ST segment depression induced by exercise relative to rest is highly elevated in disease-positive patients. Values above 2.0 are strongly associated with confirmed cardiac risk. This non-invasive measurement is a cornerstone of clinical cardiology diagnostic criteria.</a:t>
            </a:r>
            <a:endParaRPr lang="en-US" sz="800" dirty="0"/>
          </a:p>
        </p:txBody>
      </p:sp>
      <p:sp>
        <p:nvSpPr>
          <p:cNvPr id="25" name="Shape 23"/>
          <p:cNvSpPr/>
          <p:nvPr/>
        </p:nvSpPr>
        <p:spPr>
          <a:xfrm>
            <a:off x="6080760" y="2834640"/>
            <a:ext cx="2697480" cy="1920240"/>
          </a:xfrm>
          <a:prstGeom prst="rect">
            <a:avLst/>
          </a:prstGeom>
          <a:solidFill>
            <a:srgbClr val="FFFFFF"/>
          </a:solidFill>
          <a:ln/>
          <a:effectLst>
            <a:outerShdw blurRad="101600" dist="38100" dir="8100000" algn="bl" rotWithShape="0">
              <a:srgbClr val="000000">
                <a:alpha val="12000"/>
              </a:srgbClr>
            </a:outerShdw>
          </a:effectLst>
        </p:spPr>
      </p:sp>
      <p:sp>
        <p:nvSpPr>
          <p:cNvPr id="26" name="Shape 24"/>
          <p:cNvSpPr/>
          <p:nvPr/>
        </p:nvSpPr>
        <p:spPr>
          <a:xfrm>
            <a:off x="6080760" y="2834640"/>
            <a:ext cx="2697480" cy="384048"/>
          </a:xfrm>
          <a:prstGeom prst="rect">
            <a:avLst/>
          </a:prstGeom>
          <a:solidFill>
            <a:srgbClr val="2DC653"/>
          </a:solidFill>
          <a:ln/>
        </p:spPr>
      </p:sp>
      <p:sp>
        <p:nvSpPr>
          <p:cNvPr id="27" name="Text 25"/>
          <p:cNvSpPr/>
          <p:nvPr/>
        </p:nvSpPr>
        <p:spPr>
          <a:xfrm>
            <a:off x="6153912" y="2834640"/>
            <a:ext cx="2560320"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Chest Pain Type (cp)</a:t>
            </a:r>
            <a:endParaRPr lang="en-US" sz="950" dirty="0"/>
          </a:p>
        </p:txBody>
      </p:sp>
      <p:sp>
        <p:nvSpPr>
          <p:cNvPr id="28" name="Text 26"/>
          <p:cNvSpPr/>
          <p:nvPr/>
        </p:nvSpPr>
        <p:spPr>
          <a:xfrm>
            <a:off x="6172200" y="3264408"/>
            <a:ext cx="2542032" cy="1435608"/>
          </a:xfrm>
          <a:prstGeom prst="rect">
            <a:avLst/>
          </a:prstGeom>
          <a:noFill/>
          <a:ln/>
        </p:spPr>
        <p:txBody>
          <a:bodyPr wrap="square" lIns="0" tIns="0" rIns="0" bIns="0" rtlCol="0" anchor="t"/>
          <a:lstStyle/>
          <a:p>
            <a:pPr marL="0" indent="0">
              <a:buNone/>
            </a:pPr>
            <a:r>
              <a:rPr lang="en-US" sz="800" dirty="0">
                <a:solidFill>
                  <a:srgbClr val="1E293B"/>
                </a:solidFill>
                <a:latin typeface="Calibri" pitchFamily="34" charset="0"/>
                <a:ea typeface="Calibri" pitchFamily="34" charset="-122"/>
                <a:cs typeface="Calibri" pitchFamily="34" charset="-120"/>
              </a:rPr>
              <a:t>Asymptomatic chest pain type (cp=0) is counterintuitively associated with higher disease prevalence. This indicates silent cardiac disease — patients with no classic angina symptoms still present with significant diagnostic markers. A key clinical insight driving the need for ML-based screening.</a:t>
            </a:r>
            <a:endParaRPr lang="en-US" sz="800" dirty="0"/>
          </a:p>
        </p:txBody>
      </p:sp>
      <p:sp>
        <p:nvSpPr>
          <p:cNvPr id="29" name="Shape 27"/>
          <p:cNvSpPr/>
          <p:nvPr/>
        </p:nvSpPr>
        <p:spPr>
          <a:xfrm>
            <a:off x="0" y="4892040"/>
            <a:ext cx="9144000" cy="251460"/>
          </a:xfrm>
          <a:prstGeom prst="rect">
            <a:avLst/>
          </a:prstGeom>
          <a:solidFill>
            <a:srgbClr val="0D2137"/>
          </a:solidFill>
          <a:ln/>
        </p:spPr>
      </p:sp>
      <p:sp>
        <p:nvSpPr>
          <p:cNvPr id="30" name="Text 28"/>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31" name="Text 29"/>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Preprocessing &amp; Feature Engineering Pipeline</a:t>
            </a:r>
            <a:endParaRPr lang="en-US" sz="2200" dirty="0"/>
          </a:p>
        </p:txBody>
      </p:sp>
      <p:sp>
        <p:nvSpPr>
          <p:cNvPr id="5" name="Shape 3"/>
          <p:cNvSpPr/>
          <p:nvPr/>
        </p:nvSpPr>
        <p:spPr>
          <a:xfrm>
            <a:off x="320040" y="841248"/>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320040" y="841248"/>
            <a:ext cx="475488" cy="1234440"/>
          </a:xfrm>
          <a:prstGeom prst="rect">
            <a:avLst/>
          </a:prstGeom>
          <a:solidFill>
            <a:srgbClr val="E63946"/>
          </a:solidFill>
          <a:ln/>
        </p:spPr>
      </p:sp>
      <p:sp>
        <p:nvSpPr>
          <p:cNvPr id="7" name="Text 5"/>
          <p:cNvSpPr/>
          <p:nvPr/>
        </p:nvSpPr>
        <p:spPr>
          <a:xfrm>
            <a:off x="320040" y="841248"/>
            <a:ext cx="475488" cy="12344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86968" y="932688"/>
            <a:ext cx="3493008" cy="292608"/>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Feature Pruning</a:t>
            </a:r>
            <a:endParaRPr lang="en-US" sz="1100" dirty="0"/>
          </a:p>
        </p:txBody>
      </p:sp>
      <p:sp>
        <p:nvSpPr>
          <p:cNvPr id="9" name="Text 7"/>
          <p:cNvSpPr/>
          <p:nvPr/>
        </p:nvSpPr>
        <p:spPr>
          <a:xfrm>
            <a:off x="886968" y="1261872"/>
            <a:ext cx="3493008" cy="749808"/>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Columns ca and thal were permanently removed. Their extreme missingness rates (&gt;50%) meant any imputation strategy would generate unreliable synthetic data that could introduce severe model bias rather than true clinical signal.</a:t>
            </a:r>
            <a:endParaRPr lang="en-US" sz="850" dirty="0"/>
          </a:p>
        </p:txBody>
      </p:sp>
      <p:sp>
        <p:nvSpPr>
          <p:cNvPr id="10" name="Shape 8"/>
          <p:cNvSpPr/>
          <p:nvPr/>
        </p:nvSpPr>
        <p:spPr>
          <a:xfrm>
            <a:off x="320040" y="2176272"/>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320040" y="2176272"/>
            <a:ext cx="475488" cy="1234440"/>
          </a:xfrm>
          <a:prstGeom prst="rect">
            <a:avLst/>
          </a:prstGeom>
          <a:solidFill>
            <a:srgbClr val="F4A261"/>
          </a:solidFill>
          <a:ln/>
        </p:spPr>
      </p:sp>
      <p:sp>
        <p:nvSpPr>
          <p:cNvPr id="12" name="Text 10"/>
          <p:cNvSpPr/>
          <p:nvPr/>
        </p:nvSpPr>
        <p:spPr>
          <a:xfrm>
            <a:off x="320040" y="2176272"/>
            <a:ext cx="475488" cy="12344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886968" y="2267712"/>
            <a:ext cx="3493008" cy="292608"/>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Target Variable Binarization</a:t>
            </a:r>
            <a:endParaRPr lang="en-US" sz="1100" dirty="0"/>
          </a:p>
        </p:txBody>
      </p:sp>
      <p:sp>
        <p:nvSpPr>
          <p:cNvPr id="14" name="Text 12"/>
          <p:cNvSpPr/>
          <p:nvPr/>
        </p:nvSpPr>
        <p:spPr>
          <a:xfrm>
            <a:off x="886968" y="2596896"/>
            <a:ext cx="3493008" cy="749808"/>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The original multi-class severity scale (0 for healthy, 1–4 for progressive disease stages) was recoded into a binary label: 0 = No Disease, 1 = Disease Present. This simplifies the clinical question to a clear yes/no triage decision.</a:t>
            </a:r>
            <a:endParaRPr lang="en-US" sz="850" dirty="0"/>
          </a:p>
        </p:txBody>
      </p:sp>
      <p:sp>
        <p:nvSpPr>
          <p:cNvPr id="15" name="Shape 13"/>
          <p:cNvSpPr/>
          <p:nvPr/>
        </p:nvSpPr>
        <p:spPr>
          <a:xfrm>
            <a:off x="320040" y="3511296"/>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16" name="Shape 14"/>
          <p:cNvSpPr/>
          <p:nvPr/>
        </p:nvSpPr>
        <p:spPr>
          <a:xfrm>
            <a:off x="320040" y="3511296"/>
            <a:ext cx="475488" cy="1234440"/>
          </a:xfrm>
          <a:prstGeom prst="rect">
            <a:avLst/>
          </a:prstGeom>
          <a:solidFill>
            <a:srgbClr val="0A9396"/>
          </a:solidFill>
          <a:ln/>
        </p:spPr>
      </p:sp>
      <p:sp>
        <p:nvSpPr>
          <p:cNvPr id="17" name="Text 15"/>
          <p:cNvSpPr/>
          <p:nvPr/>
        </p:nvSpPr>
        <p:spPr>
          <a:xfrm>
            <a:off x="320040" y="3511296"/>
            <a:ext cx="475488" cy="12344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886968" y="3602736"/>
            <a:ext cx="3493008" cy="292608"/>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Categorical Feature Encoding</a:t>
            </a:r>
            <a:endParaRPr lang="en-US" sz="1100" dirty="0"/>
          </a:p>
        </p:txBody>
      </p:sp>
      <p:sp>
        <p:nvSpPr>
          <p:cNvPr id="19" name="Text 17"/>
          <p:cNvSpPr/>
          <p:nvPr/>
        </p:nvSpPr>
        <p:spPr>
          <a:xfrm>
            <a:off x="886968" y="3931920"/>
            <a:ext cx="3493008" cy="749808"/>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Six nominal variables — sex, cp (chest pain), fbs (fasting blood sugar), restecg (ECG result), exang (exercise angina), and slope (ST slope) — were transformed into numeric binary dummy columns via pandas get_dummies, preventing data-type alignment errors during pipeline execution.</a:t>
            </a:r>
            <a:endParaRPr lang="en-US" sz="850" dirty="0"/>
          </a:p>
        </p:txBody>
      </p:sp>
      <p:sp>
        <p:nvSpPr>
          <p:cNvPr id="20" name="Shape 18"/>
          <p:cNvSpPr/>
          <p:nvPr/>
        </p:nvSpPr>
        <p:spPr>
          <a:xfrm>
            <a:off x="4754880" y="841248"/>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21" name="Shape 19"/>
          <p:cNvSpPr/>
          <p:nvPr/>
        </p:nvSpPr>
        <p:spPr>
          <a:xfrm>
            <a:off x="4754880" y="841248"/>
            <a:ext cx="475488" cy="1234440"/>
          </a:xfrm>
          <a:prstGeom prst="rect">
            <a:avLst/>
          </a:prstGeom>
          <a:solidFill>
            <a:srgbClr val="5E60CE"/>
          </a:solidFill>
          <a:ln/>
        </p:spPr>
      </p:sp>
      <p:sp>
        <p:nvSpPr>
          <p:cNvPr id="22" name="Text 20"/>
          <p:cNvSpPr/>
          <p:nvPr/>
        </p:nvSpPr>
        <p:spPr>
          <a:xfrm>
            <a:off x="4754880" y="841248"/>
            <a:ext cx="475488" cy="12344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5321808" y="932688"/>
            <a:ext cx="3493008" cy="292608"/>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MICE Imputation (Advanced)</a:t>
            </a:r>
            <a:endParaRPr lang="en-US" sz="1100" dirty="0"/>
          </a:p>
        </p:txBody>
      </p:sp>
      <p:sp>
        <p:nvSpPr>
          <p:cNvPr id="24" name="Text 22"/>
          <p:cNvSpPr/>
          <p:nvPr/>
        </p:nvSpPr>
        <p:spPr>
          <a:xfrm>
            <a:off x="5321808" y="1261872"/>
            <a:ext cx="3493008" cy="749808"/>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Multivariate Imputation by Chained Equations fills moderate missing values in trestbps (59 missing), chol (30 missing), and slope (309 missing). MICE models each missing feature as a function of all others, capturing physiological correlations rather than inserting naive mean values.</a:t>
            </a:r>
            <a:endParaRPr lang="en-US" sz="850" dirty="0"/>
          </a:p>
        </p:txBody>
      </p:sp>
      <p:sp>
        <p:nvSpPr>
          <p:cNvPr id="25" name="Shape 23"/>
          <p:cNvSpPr/>
          <p:nvPr/>
        </p:nvSpPr>
        <p:spPr>
          <a:xfrm>
            <a:off x="4754880" y="2176272"/>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26" name="Shape 24"/>
          <p:cNvSpPr/>
          <p:nvPr/>
        </p:nvSpPr>
        <p:spPr>
          <a:xfrm>
            <a:off x="4754880" y="2176272"/>
            <a:ext cx="475488" cy="1234440"/>
          </a:xfrm>
          <a:prstGeom prst="rect">
            <a:avLst/>
          </a:prstGeom>
          <a:solidFill>
            <a:srgbClr val="2DC653"/>
          </a:solidFill>
          <a:ln/>
        </p:spPr>
      </p:sp>
      <p:sp>
        <p:nvSpPr>
          <p:cNvPr id="27" name="Text 25"/>
          <p:cNvSpPr/>
          <p:nvPr/>
        </p:nvSpPr>
        <p:spPr>
          <a:xfrm>
            <a:off x="4754880" y="2176272"/>
            <a:ext cx="475488" cy="12344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5321808" y="2267712"/>
            <a:ext cx="3493008" cy="292608"/>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StandardScaler Normalization</a:t>
            </a:r>
            <a:endParaRPr lang="en-US" sz="1100" dirty="0"/>
          </a:p>
        </p:txBody>
      </p:sp>
      <p:sp>
        <p:nvSpPr>
          <p:cNvPr id="29" name="Text 27"/>
          <p:cNvSpPr/>
          <p:nvPr/>
        </p:nvSpPr>
        <p:spPr>
          <a:xfrm>
            <a:off x="5321808" y="2596896"/>
            <a:ext cx="3493008" cy="749808"/>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Continuous features spanning diverse numerical ranges — age (29–77), blood pressure (94–200 mmHg), and cholesterol (126–564 mg/dl) — were scaled to zero mean and unit variance. Without this, large-scale metrics mathematically dominate gradient-based optimization algorithms.</a:t>
            </a:r>
            <a:endParaRPr lang="en-US" sz="850" dirty="0"/>
          </a:p>
        </p:txBody>
      </p:sp>
      <p:sp>
        <p:nvSpPr>
          <p:cNvPr id="30" name="Shape 28"/>
          <p:cNvSpPr/>
          <p:nvPr/>
        </p:nvSpPr>
        <p:spPr>
          <a:xfrm>
            <a:off x="4754880" y="3511296"/>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31" name="Shape 29"/>
          <p:cNvSpPr/>
          <p:nvPr/>
        </p:nvSpPr>
        <p:spPr>
          <a:xfrm>
            <a:off x="4754880" y="3511296"/>
            <a:ext cx="475488" cy="1234440"/>
          </a:xfrm>
          <a:prstGeom prst="rect">
            <a:avLst/>
          </a:prstGeom>
          <a:solidFill>
            <a:srgbClr val="0D2137"/>
          </a:solidFill>
          <a:ln/>
        </p:spPr>
      </p:sp>
      <p:sp>
        <p:nvSpPr>
          <p:cNvPr id="32" name="Text 30"/>
          <p:cNvSpPr/>
          <p:nvPr/>
        </p:nvSpPr>
        <p:spPr>
          <a:xfrm>
            <a:off x="4754880" y="3511296"/>
            <a:ext cx="475488" cy="12344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3" name="Text 31"/>
          <p:cNvSpPr/>
          <p:nvPr/>
        </p:nvSpPr>
        <p:spPr>
          <a:xfrm>
            <a:off x="5321808" y="3602736"/>
            <a:ext cx="3493008" cy="292608"/>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Stratified 80/20 Train-Test Split</a:t>
            </a:r>
            <a:endParaRPr lang="en-US" sz="1100" dirty="0"/>
          </a:p>
        </p:txBody>
      </p:sp>
      <p:sp>
        <p:nvSpPr>
          <p:cNvPr id="34" name="Text 32"/>
          <p:cNvSpPr/>
          <p:nvPr/>
        </p:nvSpPr>
        <p:spPr>
          <a:xfrm>
            <a:off x="5321808" y="3931920"/>
            <a:ext cx="3493008" cy="749808"/>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The dataset was partitioned using StratifiedKFold logic: 80% training (736 patients) and 20% holdout evaluation (185 patients). Stratification ensures the 55:45 disease-to-healthy class ratio is preserved identically in both splits, preventing biased holdout evaluation.</a:t>
            </a:r>
            <a:endParaRPr lang="en-US" sz="850" dirty="0"/>
          </a:p>
        </p:txBody>
      </p:sp>
      <p:sp>
        <p:nvSpPr>
          <p:cNvPr id="35" name="Shape 33"/>
          <p:cNvSpPr/>
          <p:nvPr/>
        </p:nvSpPr>
        <p:spPr>
          <a:xfrm>
            <a:off x="0" y="4892040"/>
            <a:ext cx="9144000" cy="251460"/>
          </a:xfrm>
          <a:prstGeom prst="rect">
            <a:avLst/>
          </a:prstGeom>
          <a:solidFill>
            <a:srgbClr val="0D2137"/>
          </a:solidFill>
          <a:ln/>
        </p:spPr>
      </p:sp>
      <p:sp>
        <p:nvSpPr>
          <p:cNvPr id="36" name="Text 34"/>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37" name="Text 35"/>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Development — Technology Stack &amp; Experimental Framework</a:t>
            </a:r>
            <a:endParaRPr lang="en-US" sz="2200" dirty="0"/>
          </a:p>
        </p:txBody>
      </p:sp>
      <p:sp>
        <p:nvSpPr>
          <p:cNvPr id="5" name="Text 3"/>
          <p:cNvSpPr/>
          <p:nvPr/>
        </p:nvSpPr>
        <p:spPr>
          <a:xfrm>
            <a:off x="320040" y="841248"/>
            <a:ext cx="850392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Technology Stack</a:t>
            </a:r>
            <a:endParaRPr lang="en-US" sz="1200" dirty="0"/>
          </a:p>
        </p:txBody>
      </p:sp>
      <p:sp>
        <p:nvSpPr>
          <p:cNvPr id="6" name="Shape 4"/>
          <p:cNvSpPr/>
          <p:nvPr/>
        </p:nvSpPr>
        <p:spPr>
          <a:xfrm>
            <a:off x="320040" y="1170432"/>
            <a:ext cx="2011680" cy="658368"/>
          </a:xfrm>
          <a:prstGeom prst="rect">
            <a:avLst/>
          </a:prstGeom>
          <a:solidFill>
            <a:srgbClr val="0D2F4A"/>
          </a:solidFill>
          <a:ln/>
          <a:effectLst>
            <a:outerShdw blurRad="101600" dist="38100" dir="8100000" algn="bl" rotWithShape="0">
              <a:srgbClr val="000000">
                <a:alpha val="12000"/>
              </a:srgbClr>
            </a:outerShdw>
          </a:effectLst>
        </p:spPr>
      </p:sp>
      <p:sp>
        <p:nvSpPr>
          <p:cNvPr id="7" name="Text 5"/>
          <p:cNvSpPr/>
          <p:nvPr/>
        </p:nvSpPr>
        <p:spPr>
          <a:xfrm>
            <a:off x="411480" y="1207008"/>
            <a:ext cx="1828800" cy="274320"/>
          </a:xfrm>
          <a:prstGeom prst="rect">
            <a:avLst/>
          </a:prstGeom>
          <a:noFill/>
          <a:ln/>
        </p:spPr>
        <p:txBody>
          <a:bodyPr wrap="square" lIns="0" tIns="0" rIns="0" bIns="0" rtlCol="0" anchor="ctr"/>
          <a:lstStyle/>
          <a:p>
            <a:pPr marL="0" indent="0">
              <a:buNone/>
            </a:pPr>
            <a:r>
              <a:rPr lang="en-US" sz="1000" b="1" dirty="0">
                <a:solidFill>
                  <a:srgbClr val="0A9396"/>
                </a:solidFill>
                <a:latin typeface="Calibri" pitchFamily="34" charset="0"/>
                <a:ea typeface="Calibri" pitchFamily="34" charset="-122"/>
                <a:cs typeface="Calibri" pitchFamily="34" charset="-120"/>
              </a:rPr>
              <a:t>Pandas &amp; NumPy</a:t>
            </a:r>
            <a:endParaRPr lang="en-US" sz="1000" dirty="0"/>
          </a:p>
        </p:txBody>
      </p:sp>
      <p:sp>
        <p:nvSpPr>
          <p:cNvPr id="8" name="Text 6"/>
          <p:cNvSpPr/>
          <p:nvPr/>
        </p:nvSpPr>
        <p:spPr>
          <a:xfrm>
            <a:off x="411480" y="1481328"/>
            <a:ext cx="1828800" cy="274320"/>
          </a:xfrm>
          <a:prstGeom prst="rect">
            <a:avLst/>
          </a:prstGeom>
          <a:noFill/>
          <a:ln/>
        </p:spPr>
        <p:txBody>
          <a:bodyPr wrap="square" lIns="0" tIns="0" rIns="0" bIns="0" rtlCol="0" anchor="ctr"/>
          <a:lstStyle/>
          <a:p>
            <a:pPr marL="0" indent="0">
              <a:buNone/>
            </a:pPr>
            <a:r>
              <a:rPr lang="en-US" sz="850" dirty="0">
                <a:solidFill>
                  <a:srgbClr val="94D2BD"/>
                </a:solidFill>
                <a:latin typeface="Calibri" pitchFamily="34" charset="0"/>
                <a:ea typeface="Calibri" pitchFamily="34" charset="-122"/>
                <a:cs typeface="Calibri" pitchFamily="34" charset="-120"/>
              </a:rPr>
              <a:t>Matrix manipulation &amp; dummy encoding</a:t>
            </a:r>
            <a:endParaRPr lang="en-US" sz="850" dirty="0"/>
          </a:p>
        </p:txBody>
      </p:sp>
      <p:sp>
        <p:nvSpPr>
          <p:cNvPr id="9" name="Shape 7"/>
          <p:cNvSpPr/>
          <p:nvPr/>
        </p:nvSpPr>
        <p:spPr>
          <a:xfrm>
            <a:off x="2514600" y="1170432"/>
            <a:ext cx="2011680" cy="658368"/>
          </a:xfrm>
          <a:prstGeom prst="rect">
            <a:avLst/>
          </a:prstGeom>
          <a:solidFill>
            <a:srgbClr val="0D2F4A"/>
          </a:solidFill>
          <a:ln/>
          <a:effectLst>
            <a:outerShdw blurRad="101600" dist="38100" dir="8100000" algn="bl" rotWithShape="0">
              <a:srgbClr val="000000">
                <a:alpha val="12000"/>
              </a:srgbClr>
            </a:outerShdw>
          </a:effectLst>
        </p:spPr>
      </p:sp>
      <p:sp>
        <p:nvSpPr>
          <p:cNvPr id="10" name="Text 8"/>
          <p:cNvSpPr/>
          <p:nvPr/>
        </p:nvSpPr>
        <p:spPr>
          <a:xfrm>
            <a:off x="2606040" y="1207008"/>
            <a:ext cx="1828800" cy="274320"/>
          </a:xfrm>
          <a:prstGeom prst="rect">
            <a:avLst/>
          </a:prstGeom>
          <a:noFill/>
          <a:ln/>
        </p:spPr>
        <p:txBody>
          <a:bodyPr wrap="square" lIns="0" tIns="0" rIns="0" bIns="0" rtlCol="0" anchor="ctr"/>
          <a:lstStyle/>
          <a:p>
            <a:pPr marL="0" indent="0">
              <a:buNone/>
            </a:pPr>
            <a:r>
              <a:rPr lang="en-US" sz="1000" b="1" dirty="0">
                <a:solidFill>
                  <a:srgbClr val="0A9396"/>
                </a:solidFill>
                <a:latin typeface="Calibri" pitchFamily="34" charset="0"/>
                <a:ea typeface="Calibri" pitchFamily="34" charset="-122"/>
                <a:cs typeface="Calibri" pitchFamily="34" charset="-120"/>
              </a:rPr>
              <a:t>Scikit-Learn</a:t>
            </a:r>
            <a:endParaRPr lang="en-US" sz="1000" dirty="0"/>
          </a:p>
        </p:txBody>
      </p:sp>
      <p:sp>
        <p:nvSpPr>
          <p:cNvPr id="11" name="Text 9"/>
          <p:cNvSpPr/>
          <p:nvPr/>
        </p:nvSpPr>
        <p:spPr>
          <a:xfrm>
            <a:off x="2606040" y="1481328"/>
            <a:ext cx="1828800" cy="274320"/>
          </a:xfrm>
          <a:prstGeom prst="rect">
            <a:avLst/>
          </a:prstGeom>
          <a:noFill/>
          <a:ln/>
        </p:spPr>
        <p:txBody>
          <a:bodyPr wrap="square" lIns="0" tIns="0" rIns="0" bIns="0" rtlCol="0" anchor="ctr"/>
          <a:lstStyle/>
          <a:p>
            <a:pPr marL="0" indent="0">
              <a:buNone/>
            </a:pPr>
            <a:r>
              <a:rPr lang="en-US" sz="850" dirty="0">
                <a:solidFill>
                  <a:srgbClr val="94D2BD"/>
                </a:solidFill>
                <a:latin typeface="Calibri" pitchFamily="34" charset="0"/>
                <a:ea typeface="Calibri" pitchFamily="34" charset="-122"/>
                <a:cs typeface="Calibri" pitchFamily="34" charset="-120"/>
              </a:rPr>
              <a:t>Pipelines, CV, scaling, imputation</a:t>
            </a:r>
            <a:endParaRPr lang="en-US" sz="850" dirty="0"/>
          </a:p>
        </p:txBody>
      </p:sp>
      <p:sp>
        <p:nvSpPr>
          <p:cNvPr id="12" name="Shape 10"/>
          <p:cNvSpPr/>
          <p:nvPr/>
        </p:nvSpPr>
        <p:spPr>
          <a:xfrm>
            <a:off x="4709160" y="1170432"/>
            <a:ext cx="2011680" cy="658368"/>
          </a:xfrm>
          <a:prstGeom prst="rect">
            <a:avLst/>
          </a:prstGeom>
          <a:solidFill>
            <a:srgbClr val="0D2F4A"/>
          </a:solidFill>
          <a:ln/>
          <a:effectLst>
            <a:outerShdw blurRad="101600" dist="38100" dir="8100000" algn="bl" rotWithShape="0">
              <a:srgbClr val="000000">
                <a:alpha val="12000"/>
              </a:srgbClr>
            </a:outerShdw>
          </a:effectLst>
        </p:spPr>
      </p:sp>
      <p:sp>
        <p:nvSpPr>
          <p:cNvPr id="13" name="Text 11"/>
          <p:cNvSpPr/>
          <p:nvPr/>
        </p:nvSpPr>
        <p:spPr>
          <a:xfrm>
            <a:off x="4800600" y="1207008"/>
            <a:ext cx="1828800" cy="274320"/>
          </a:xfrm>
          <a:prstGeom prst="rect">
            <a:avLst/>
          </a:prstGeom>
          <a:noFill/>
          <a:ln/>
        </p:spPr>
        <p:txBody>
          <a:bodyPr wrap="square" lIns="0" tIns="0" rIns="0" bIns="0" rtlCol="0" anchor="ctr"/>
          <a:lstStyle/>
          <a:p>
            <a:pPr marL="0" indent="0">
              <a:buNone/>
            </a:pPr>
            <a:r>
              <a:rPr lang="en-US" sz="1000" b="1" dirty="0">
                <a:solidFill>
                  <a:srgbClr val="0A9396"/>
                </a:solidFill>
                <a:latin typeface="Calibri" pitchFamily="34" charset="0"/>
                <a:ea typeface="Calibri" pitchFamily="34" charset="-122"/>
                <a:cs typeface="Calibri" pitchFamily="34" charset="-120"/>
              </a:rPr>
              <a:t>XGBoost</a:t>
            </a:r>
            <a:endParaRPr lang="en-US" sz="1000" dirty="0"/>
          </a:p>
        </p:txBody>
      </p:sp>
      <p:sp>
        <p:nvSpPr>
          <p:cNvPr id="14" name="Text 12"/>
          <p:cNvSpPr/>
          <p:nvPr/>
        </p:nvSpPr>
        <p:spPr>
          <a:xfrm>
            <a:off x="4800600" y="1481328"/>
            <a:ext cx="1828800" cy="274320"/>
          </a:xfrm>
          <a:prstGeom prst="rect">
            <a:avLst/>
          </a:prstGeom>
          <a:noFill/>
          <a:ln/>
        </p:spPr>
        <p:txBody>
          <a:bodyPr wrap="square" lIns="0" tIns="0" rIns="0" bIns="0" rtlCol="0" anchor="ctr"/>
          <a:lstStyle/>
          <a:p>
            <a:pPr marL="0" indent="0">
              <a:buNone/>
            </a:pPr>
            <a:r>
              <a:rPr lang="en-US" sz="850" dirty="0">
                <a:solidFill>
                  <a:srgbClr val="94D2BD"/>
                </a:solidFill>
                <a:latin typeface="Calibri" pitchFamily="34" charset="0"/>
                <a:ea typeface="Calibri" pitchFamily="34" charset="-122"/>
                <a:cs typeface="Calibri" pitchFamily="34" charset="-120"/>
              </a:rPr>
              <a:t>Gradient boosting estimator</a:t>
            </a:r>
            <a:endParaRPr lang="en-US" sz="850" dirty="0"/>
          </a:p>
        </p:txBody>
      </p:sp>
      <p:sp>
        <p:nvSpPr>
          <p:cNvPr id="15" name="Shape 13"/>
          <p:cNvSpPr/>
          <p:nvPr/>
        </p:nvSpPr>
        <p:spPr>
          <a:xfrm>
            <a:off x="6903720" y="1170432"/>
            <a:ext cx="2011680" cy="658368"/>
          </a:xfrm>
          <a:prstGeom prst="rect">
            <a:avLst/>
          </a:prstGeom>
          <a:solidFill>
            <a:srgbClr val="0D2F4A"/>
          </a:solidFill>
          <a:ln/>
          <a:effectLst>
            <a:outerShdw blurRad="101600" dist="38100" dir="8100000" algn="bl" rotWithShape="0">
              <a:srgbClr val="000000">
                <a:alpha val="12000"/>
              </a:srgbClr>
            </a:outerShdw>
          </a:effectLst>
        </p:spPr>
      </p:sp>
      <p:sp>
        <p:nvSpPr>
          <p:cNvPr id="16" name="Text 14"/>
          <p:cNvSpPr/>
          <p:nvPr/>
        </p:nvSpPr>
        <p:spPr>
          <a:xfrm>
            <a:off x="6995160" y="1207008"/>
            <a:ext cx="1828800" cy="274320"/>
          </a:xfrm>
          <a:prstGeom prst="rect">
            <a:avLst/>
          </a:prstGeom>
          <a:noFill/>
          <a:ln/>
        </p:spPr>
        <p:txBody>
          <a:bodyPr wrap="square" lIns="0" tIns="0" rIns="0" bIns="0" rtlCol="0" anchor="ctr"/>
          <a:lstStyle/>
          <a:p>
            <a:pPr marL="0" indent="0">
              <a:buNone/>
            </a:pPr>
            <a:r>
              <a:rPr lang="en-US" sz="1000" b="1" dirty="0">
                <a:solidFill>
                  <a:srgbClr val="0A9396"/>
                </a:solidFill>
                <a:latin typeface="Calibri" pitchFamily="34" charset="0"/>
                <a:ea typeface="Calibri" pitchFamily="34" charset="-122"/>
                <a:cs typeface="Calibri" pitchFamily="34" charset="-120"/>
              </a:rPr>
              <a:t>Matplotlib &amp; Seaborn</a:t>
            </a:r>
            <a:endParaRPr lang="en-US" sz="1000" dirty="0"/>
          </a:p>
        </p:txBody>
      </p:sp>
      <p:sp>
        <p:nvSpPr>
          <p:cNvPr id="17" name="Text 15"/>
          <p:cNvSpPr/>
          <p:nvPr/>
        </p:nvSpPr>
        <p:spPr>
          <a:xfrm>
            <a:off x="6995160" y="1481328"/>
            <a:ext cx="1828800" cy="274320"/>
          </a:xfrm>
          <a:prstGeom prst="rect">
            <a:avLst/>
          </a:prstGeom>
          <a:noFill/>
          <a:ln/>
        </p:spPr>
        <p:txBody>
          <a:bodyPr wrap="square" lIns="0" tIns="0" rIns="0" bIns="0" rtlCol="0" anchor="ctr"/>
          <a:lstStyle/>
          <a:p>
            <a:pPr marL="0" indent="0">
              <a:buNone/>
            </a:pPr>
            <a:r>
              <a:rPr lang="en-US" sz="850" dirty="0">
                <a:solidFill>
                  <a:srgbClr val="94D2BD"/>
                </a:solidFill>
                <a:latin typeface="Calibri" pitchFamily="34" charset="0"/>
                <a:ea typeface="Calibri" pitchFamily="34" charset="-122"/>
                <a:cs typeface="Calibri" pitchFamily="34" charset="-120"/>
              </a:rPr>
              <a:t>Performance visualizations</a:t>
            </a:r>
            <a:endParaRPr lang="en-US" sz="850" dirty="0"/>
          </a:p>
        </p:txBody>
      </p:sp>
      <p:sp>
        <p:nvSpPr>
          <p:cNvPr id="18" name="Shape 16"/>
          <p:cNvSpPr/>
          <p:nvPr/>
        </p:nvSpPr>
        <p:spPr>
          <a:xfrm>
            <a:off x="320040" y="1947672"/>
            <a:ext cx="8503920" cy="347472"/>
          </a:xfrm>
          <a:prstGeom prst="rect">
            <a:avLst/>
          </a:prstGeom>
          <a:solidFill>
            <a:srgbClr val="E63946"/>
          </a:solidFill>
          <a:ln/>
          <a:effectLst>
            <a:outerShdw blurRad="101600" dist="38100" dir="8100000" algn="bl" rotWithShape="0">
              <a:srgbClr val="000000">
                <a:alpha val="12000"/>
              </a:srgbClr>
            </a:outerShdw>
          </a:effectLst>
        </p:spPr>
      </p:sp>
      <p:sp>
        <p:nvSpPr>
          <p:cNvPr id="19" name="Text 17"/>
          <p:cNvSpPr/>
          <p:nvPr/>
        </p:nvSpPr>
        <p:spPr>
          <a:xfrm>
            <a:off x="457200" y="1956816"/>
            <a:ext cx="8229600" cy="32918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Why RECALL is the True North Metric:  A False Negative (classifying a sick patient as healthy) sends an active cardiac patient home without treatment — a catastrophic clinical outcome. A False Positive (flagging a healthy patient as high-risk) simply triggers a confirmatory secondary test, causing minimal harm.</a:t>
            </a:r>
            <a:endParaRPr lang="en-US" sz="900" dirty="0"/>
          </a:p>
        </p:txBody>
      </p:sp>
      <p:sp>
        <p:nvSpPr>
          <p:cNvPr id="20" name="Text 18"/>
          <p:cNvSpPr/>
          <p:nvPr/>
        </p:nvSpPr>
        <p:spPr>
          <a:xfrm>
            <a:off x="320040" y="2414016"/>
            <a:ext cx="850392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Experimental Algorithms</a:t>
            </a:r>
            <a:endParaRPr lang="en-US" sz="1200" dirty="0"/>
          </a:p>
        </p:txBody>
      </p:sp>
      <p:sp>
        <p:nvSpPr>
          <p:cNvPr id="21" name="Shape 19"/>
          <p:cNvSpPr/>
          <p:nvPr/>
        </p:nvSpPr>
        <p:spPr>
          <a:xfrm>
            <a:off x="320040" y="2743200"/>
            <a:ext cx="2697480" cy="1984248"/>
          </a:xfrm>
          <a:prstGeom prst="rect">
            <a:avLst/>
          </a:prstGeom>
          <a:solidFill>
            <a:srgbClr val="FFFFFF"/>
          </a:solidFill>
          <a:ln/>
          <a:effectLst>
            <a:outerShdw blurRad="101600" dist="38100" dir="8100000" algn="bl" rotWithShape="0">
              <a:srgbClr val="000000">
                <a:alpha val="12000"/>
              </a:srgbClr>
            </a:outerShdw>
          </a:effectLst>
        </p:spPr>
      </p:sp>
      <p:sp>
        <p:nvSpPr>
          <p:cNvPr id="22" name="Shape 20"/>
          <p:cNvSpPr/>
          <p:nvPr/>
        </p:nvSpPr>
        <p:spPr>
          <a:xfrm>
            <a:off x="320040" y="2743200"/>
            <a:ext cx="2697480" cy="347472"/>
          </a:xfrm>
          <a:prstGeom prst="rect">
            <a:avLst/>
          </a:prstGeom>
          <a:solidFill>
            <a:srgbClr val="6B7280"/>
          </a:solidFill>
          <a:ln/>
        </p:spPr>
      </p:sp>
      <p:sp>
        <p:nvSpPr>
          <p:cNvPr id="23" name="Text 21"/>
          <p:cNvSpPr/>
          <p:nvPr/>
        </p:nvSpPr>
        <p:spPr>
          <a:xfrm>
            <a:off x="320040" y="2743200"/>
            <a:ext cx="26974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BASELINE</a:t>
            </a:r>
            <a:endParaRPr lang="en-US" sz="1000" dirty="0"/>
          </a:p>
        </p:txBody>
      </p:sp>
      <p:sp>
        <p:nvSpPr>
          <p:cNvPr id="24" name="Text 22"/>
          <p:cNvSpPr/>
          <p:nvPr/>
        </p:nvSpPr>
        <p:spPr>
          <a:xfrm>
            <a:off x="411480" y="3145536"/>
            <a:ext cx="2514600" cy="320040"/>
          </a:xfrm>
          <a:prstGeom prst="rect">
            <a:avLst/>
          </a:prstGeom>
          <a:noFill/>
          <a:ln/>
        </p:spPr>
        <p:txBody>
          <a:bodyPr wrap="square" lIns="0" tIns="0" rIns="0" bIns="0" rtlCol="0" anchor="ctr"/>
          <a:lstStyle/>
          <a:p>
            <a:pPr marL="0" indent="0" algn="ctr">
              <a:buNone/>
            </a:pPr>
            <a:r>
              <a:rPr lang="en-US" sz="1100" b="1" dirty="0">
                <a:solidFill>
                  <a:srgbClr val="0D2137"/>
                </a:solidFill>
                <a:latin typeface="Calibri" pitchFamily="34" charset="0"/>
                <a:ea typeface="Calibri" pitchFamily="34" charset="-122"/>
                <a:cs typeface="Calibri" pitchFamily="34" charset="-120"/>
              </a:rPr>
              <a:t>Logistic Regression</a:t>
            </a:r>
            <a:endParaRPr lang="en-US" sz="1100" dirty="0"/>
          </a:p>
        </p:txBody>
      </p:sp>
      <p:sp>
        <p:nvSpPr>
          <p:cNvPr id="25" name="Text 23"/>
          <p:cNvSpPr/>
          <p:nvPr/>
        </p:nvSpPr>
        <p:spPr>
          <a:xfrm>
            <a:off x="411480" y="3511296"/>
            <a:ext cx="2514600" cy="1161288"/>
          </a:xfrm>
          <a:prstGeom prst="rect">
            <a:avLst/>
          </a:prstGeom>
          <a:noFill/>
          <a:ln/>
        </p:spPr>
        <p:txBody>
          <a:bodyPr wrap="square" lIns="0" tIns="0" rIns="0" bIns="0" rtlCol="0" anchor="ctr"/>
          <a:lstStyle/>
          <a:p>
            <a:pPr marL="0" indent="0">
              <a:buNone/>
            </a:pPr>
            <a:r>
              <a:rPr lang="en-US" sz="800" dirty="0">
                <a:solidFill>
                  <a:srgbClr val="374151"/>
                </a:solidFill>
                <a:latin typeface="Calibri" pitchFamily="34" charset="0"/>
                <a:ea typeface="Calibri" pitchFamily="34" charset="-122"/>
                <a:cs typeface="Calibri" pitchFamily="34" charset="-120"/>
              </a:rPr>
              <a:t>A linear classifier computing log-odds ratios for each clinical feature. Provides an interpretable baseline with probability outputs and feature coefficient visibility. Selected for its transparency in clinical environments where model explainability is legally required under healthcare AI regulations.</a:t>
            </a:r>
            <a:endParaRPr lang="en-US" sz="800" dirty="0"/>
          </a:p>
        </p:txBody>
      </p:sp>
      <p:sp>
        <p:nvSpPr>
          <p:cNvPr id="26" name="Shape 24"/>
          <p:cNvSpPr/>
          <p:nvPr/>
        </p:nvSpPr>
        <p:spPr>
          <a:xfrm>
            <a:off x="3200400" y="2743200"/>
            <a:ext cx="2697480" cy="1984248"/>
          </a:xfrm>
          <a:prstGeom prst="rect">
            <a:avLst/>
          </a:prstGeom>
          <a:solidFill>
            <a:srgbClr val="FFFFFF"/>
          </a:solidFill>
          <a:ln/>
          <a:effectLst>
            <a:outerShdw blurRad="101600" dist="38100" dir="8100000" algn="bl" rotWithShape="0">
              <a:srgbClr val="000000">
                <a:alpha val="12000"/>
              </a:srgbClr>
            </a:outerShdw>
          </a:effectLst>
        </p:spPr>
      </p:sp>
      <p:sp>
        <p:nvSpPr>
          <p:cNvPr id="27" name="Shape 25"/>
          <p:cNvSpPr/>
          <p:nvPr/>
        </p:nvSpPr>
        <p:spPr>
          <a:xfrm>
            <a:off x="3200400" y="2743200"/>
            <a:ext cx="2697480" cy="347472"/>
          </a:xfrm>
          <a:prstGeom prst="rect">
            <a:avLst/>
          </a:prstGeom>
          <a:solidFill>
            <a:srgbClr val="0A9396"/>
          </a:solidFill>
          <a:ln/>
        </p:spPr>
      </p:sp>
      <p:sp>
        <p:nvSpPr>
          <p:cNvPr id="28" name="Text 26"/>
          <p:cNvSpPr/>
          <p:nvPr/>
        </p:nvSpPr>
        <p:spPr>
          <a:xfrm>
            <a:off x="3200400" y="2743200"/>
            <a:ext cx="26974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ENSEMBLE</a:t>
            </a:r>
            <a:endParaRPr lang="en-US" sz="1000" dirty="0"/>
          </a:p>
        </p:txBody>
      </p:sp>
      <p:sp>
        <p:nvSpPr>
          <p:cNvPr id="29" name="Text 27"/>
          <p:cNvSpPr/>
          <p:nvPr/>
        </p:nvSpPr>
        <p:spPr>
          <a:xfrm>
            <a:off x="3291840" y="3145536"/>
            <a:ext cx="2514600" cy="320040"/>
          </a:xfrm>
          <a:prstGeom prst="rect">
            <a:avLst/>
          </a:prstGeom>
          <a:noFill/>
          <a:ln/>
        </p:spPr>
        <p:txBody>
          <a:bodyPr wrap="square" lIns="0" tIns="0" rIns="0" bIns="0" rtlCol="0" anchor="ctr"/>
          <a:lstStyle/>
          <a:p>
            <a:pPr marL="0" indent="0" algn="ctr">
              <a:buNone/>
            </a:pPr>
            <a:r>
              <a:rPr lang="en-US" sz="1100" b="1" dirty="0">
                <a:solidFill>
                  <a:srgbClr val="0D2137"/>
                </a:solidFill>
                <a:latin typeface="Calibri" pitchFamily="34" charset="0"/>
                <a:ea typeface="Calibri" pitchFamily="34" charset="-122"/>
                <a:cs typeface="Calibri" pitchFamily="34" charset="-120"/>
              </a:rPr>
              <a:t>Random Forest</a:t>
            </a:r>
            <a:endParaRPr lang="en-US" sz="1100" dirty="0"/>
          </a:p>
        </p:txBody>
      </p:sp>
      <p:sp>
        <p:nvSpPr>
          <p:cNvPr id="30" name="Text 28"/>
          <p:cNvSpPr/>
          <p:nvPr/>
        </p:nvSpPr>
        <p:spPr>
          <a:xfrm>
            <a:off x="3291840" y="3511296"/>
            <a:ext cx="2514600" cy="1161288"/>
          </a:xfrm>
          <a:prstGeom prst="rect">
            <a:avLst/>
          </a:prstGeom>
          <a:noFill/>
          <a:ln/>
        </p:spPr>
        <p:txBody>
          <a:bodyPr wrap="square" lIns="0" tIns="0" rIns="0" bIns="0" rtlCol="0" anchor="ctr"/>
          <a:lstStyle/>
          <a:p>
            <a:pPr marL="0" indent="0">
              <a:buNone/>
            </a:pPr>
            <a:r>
              <a:rPr lang="en-US" sz="800" dirty="0">
                <a:solidFill>
                  <a:srgbClr val="374151"/>
                </a:solidFill>
                <a:latin typeface="Calibri" pitchFamily="34" charset="0"/>
                <a:ea typeface="Calibri" pitchFamily="34" charset="-122"/>
                <a:cs typeface="Calibri" pitchFamily="34" charset="-120"/>
              </a:rPr>
              <a:t>A bagging-based parallel ensemble that constructs N=100 uncorrelated decision trees using random feature subsets. Reduces variance by averaging tree predictions. Captures non-linear physiological relationships that Logistic Regression misses, without the overfitting risk of a single deep tree.</a:t>
            </a:r>
            <a:endParaRPr lang="en-US" sz="800" dirty="0"/>
          </a:p>
        </p:txBody>
      </p:sp>
      <p:sp>
        <p:nvSpPr>
          <p:cNvPr id="31" name="Shape 29"/>
          <p:cNvSpPr/>
          <p:nvPr/>
        </p:nvSpPr>
        <p:spPr>
          <a:xfrm>
            <a:off x="6080760" y="2743200"/>
            <a:ext cx="2697480" cy="1984248"/>
          </a:xfrm>
          <a:prstGeom prst="rect">
            <a:avLst/>
          </a:prstGeom>
          <a:solidFill>
            <a:srgbClr val="FFFFFF"/>
          </a:solidFill>
          <a:ln/>
          <a:effectLst>
            <a:outerShdw blurRad="101600" dist="38100" dir="8100000" algn="bl" rotWithShape="0">
              <a:srgbClr val="000000">
                <a:alpha val="12000"/>
              </a:srgbClr>
            </a:outerShdw>
          </a:effectLst>
        </p:spPr>
      </p:sp>
      <p:sp>
        <p:nvSpPr>
          <p:cNvPr id="32" name="Shape 30"/>
          <p:cNvSpPr/>
          <p:nvPr/>
        </p:nvSpPr>
        <p:spPr>
          <a:xfrm>
            <a:off x="6080760" y="2743200"/>
            <a:ext cx="2697480" cy="347472"/>
          </a:xfrm>
          <a:prstGeom prst="rect">
            <a:avLst/>
          </a:prstGeom>
          <a:solidFill>
            <a:srgbClr val="5E60CE"/>
          </a:solidFill>
          <a:ln/>
        </p:spPr>
      </p:sp>
      <p:sp>
        <p:nvSpPr>
          <p:cNvPr id="33" name="Text 31"/>
          <p:cNvSpPr/>
          <p:nvPr/>
        </p:nvSpPr>
        <p:spPr>
          <a:xfrm>
            <a:off x="6080760" y="2743200"/>
            <a:ext cx="26974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GRADIENT BOOST</a:t>
            </a:r>
            <a:endParaRPr lang="en-US" sz="1000" dirty="0"/>
          </a:p>
        </p:txBody>
      </p:sp>
      <p:sp>
        <p:nvSpPr>
          <p:cNvPr id="34" name="Text 32"/>
          <p:cNvSpPr/>
          <p:nvPr/>
        </p:nvSpPr>
        <p:spPr>
          <a:xfrm>
            <a:off x="6172200" y="3145536"/>
            <a:ext cx="2514600" cy="320040"/>
          </a:xfrm>
          <a:prstGeom prst="rect">
            <a:avLst/>
          </a:prstGeom>
          <a:noFill/>
          <a:ln/>
        </p:spPr>
        <p:txBody>
          <a:bodyPr wrap="square" lIns="0" tIns="0" rIns="0" bIns="0" rtlCol="0" anchor="ctr"/>
          <a:lstStyle/>
          <a:p>
            <a:pPr marL="0" indent="0" algn="ctr">
              <a:buNone/>
            </a:pPr>
            <a:r>
              <a:rPr lang="en-US" sz="1100" b="1" dirty="0">
                <a:solidFill>
                  <a:srgbClr val="0D2137"/>
                </a:solidFill>
                <a:latin typeface="Calibri" pitchFamily="34" charset="0"/>
                <a:ea typeface="Calibri" pitchFamily="34" charset="-122"/>
                <a:cs typeface="Calibri" pitchFamily="34" charset="-120"/>
              </a:rPr>
              <a:t>XGBoost Classifier</a:t>
            </a:r>
            <a:endParaRPr lang="en-US" sz="1100" dirty="0"/>
          </a:p>
        </p:txBody>
      </p:sp>
      <p:sp>
        <p:nvSpPr>
          <p:cNvPr id="35" name="Text 33"/>
          <p:cNvSpPr/>
          <p:nvPr/>
        </p:nvSpPr>
        <p:spPr>
          <a:xfrm>
            <a:off x="6172200" y="3511296"/>
            <a:ext cx="2514600" cy="1161288"/>
          </a:xfrm>
          <a:prstGeom prst="rect">
            <a:avLst/>
          </a:prstGeom>
          <a:noFill/>
          <a:ln/>
        </p:spPr>
        <p:txBody>
          <a:bodyPr wrap="square" lIns="0" tIns="0" rIns="0" bIns="0" rtlCol="0" anchor="ctr"/>
          <a:lstStyle/>
          <a:p>
            <a:pPr marL="0" indent="0">
              <a:buNone/>
            </a:pPr>
            <a:r>
              <a:rPr lang="en-US" sz="800" dirty="0">
                <a:solidFill>
                  <a:srgbClr val="374151"/>
                </a:solidFill>
                <a:latin typeface="Calibri" pitchFamily="34" charset="0"/>
                <a:ea typeface="Calibri" pitchFamily="34" charset="-122"/>
                <a:cs typeface="Calibri" pitchFamily="34" charset="-120"/>
              </a:rPr>
              <a:t>A sequential boosting framework that iteratively corrects residual errors from prior weak learners by optimizing against a structured loss gradient. Known for achieving state-of-the-art performance on tabular clinical data. Includes built-in regularization (L1/L2) to prevent overfitting on the 921-row dataset.</a:t>
            </a:r>
            <a:endParaRPr lang="en-US" sz="800" dirty="0"/>
          </a:p>
        </p:txBody>
      </p:sp>
      <p:sp>
        <p:nvSpPr>
          <p:cNvPr id="36" name="Shape 34"/>
          <p:cNvSpPr/>
          <p:nvPr/>
        </p:nvSpPr>
        <p:spPr>
          <a:xfrm>
            <a:off x="0" y="4892040"/>
            <a:ext cx="9144000" cy="251460"/>
          </a:xfrm>
          <a:prstGeom prst="rect">
            <a:avLst/>
          </a:prstGeom>
          <a:solidFill>
            <a:srgbClr val="0D2137"/>
          </a:solidFill>
          <a:ln/>
        </p:spPr>
      </p:sp>
      <p:sp>
        <p:nvSpPr>
          <p:cNvPr id="37" name="Text 35"/>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38" name="Text 36"/>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Performance Results &amp; Champion Selection</a:t>
            </a:r>
            <a:endParaRPr lang="en-US" sz="2200" dirty="0"/>
          </a:p>
        </p:txBody>
      </p:sp>
      <p:sp>
        <p:nvSpPr>
          <p:cNvPr id="5" name="Text 3"/>
          <p:cNvSpPr/>
          <p:nvPr/>
        </p:nvSpPr>
        <p:spPr>
          <a:xfrm>
            <a:off x="320040" y="804672"/>
            <a:ext cx="850392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Holdout Test Set Performance (185 Patients)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133856"/>
          <a:ext cx="8503920" cy="1219200"/>
        </p:xfrm>
        <a:graphic>
          <a:graphicData uri="http://schemas.openxmlformats.org/drawingml/2006/table">
            <a:tbl>
              <a:tblPr/>
              <a:tblGrid>
                <a:gridCol w="2125980"/>
                <a:gridCol w="2125980"/>
                <a:gridCol w="2125980"/>
                <a:gridCol w="2125980"/>
              </a:tblGrid>
              <a:tr h="23774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213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213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213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D2137"/>
                    </a:solidFill>
                  </a:tcPr>
                </a:tc>
              </a:tr>
              <a:tr h="237744">
                <a:tc>
                  <a:txBody>
                    <a:bodyPr/>
                    <a:lstStyle/>
                    <a:p>
                      <a:pPr marL="0" indent="0" algn="l">
                        <a:buNone/>
                      </a:pPr>
                      <a:r>
                        <a:rPr lang="en-US" sz="1000" b="1" dirty="0">
                          <a:solidFill>
                            <a:srgbClr val="1E293B"/>
                          </a:solidFill>
                          <a:latin typeface="Calibri" pitchFamily="34" charset="0"/>
                          <a:ea typeface="Calibri" pitchFamily="34" charset="-122"/>
                          <a:cs typeface="Calibri" pitchFamily="34" charset="-120"/>
                        </a:rPr>
                        <a:t>Holdout Test Accuracy</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78.26%</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9396"/>
                          </a:solidFill>
                          <a:latin typeface="Calibri" pitchFamily="34" charset="0"/>
                          <a:ea typeface="Calibri" pitchFamily="34" charset="-122"/>
                          <a:cs typeface="Calibri" pitchFamily="34" charset="-120"/>
                        </a:rPr>
                        <a:t>84.78%</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D2137"/>
                          </a:solidFill>
                          <a:latin typeface="Calibri" pitchFamily="34" charset="0"/>
                          <a:ea typeface="Calibri" pitchFamily="34" charset="-122"/>
                          <a:cs typeface="Calibri" pitchFamily="34" charset="-120"/>
                        </a:rPr>
                        <a:t>85.33% ✓</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237744">
                <a:tc>
                  <a:txBody>
                    <a:bodyPr/>
                    <a:lstStyle/>
                    <a:p>
                      <a:pPr marL="0" indent="0" algn="l">
                        <a:buNone/>
                      </a:pPr>
                      <a:r>
                        <a:rPr lang="en-US" sz="1000" b="1" dirty="0">
                          <a:solidFill>
                            <a:srgbClr val="1E293B"/>
                          </a:solidFill>
                          <a:latin typeface="Calibri" pitchFamily="34" charset="0"/>
                          <a:ea typeface="Calibri" pitchFamily="34" charset="-122"/>
                          <a:cs typeface="Calibri" pitchFamily="34" charset="-120"/>
                        </a:rPr>
                        <a:t>Holdout Test Recall (Sensitivity)</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83.33%</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9396"/>
                          </a:solidFill>
                          <a:latin typeface="Calibri" pitchFamily="34" charset="0"/>
                          <a:ea typeface="Calibri" pitchFamily="34" charset="-122"/>
                          <a:cs typeface="Calibri" pitchFamily="34" charset="-120"/>
                        </a:rPr>
                        <a:t>90.20% ★</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87.25%</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237744">
                <a:tc>
                  <a:txBody>
                    <a:bodyPr/>
                    <a:lstStyle/>
                    <a:p>
                      <a:pPr marL="0" indent="0" algn="l">
                        <a:buNone/>
                      </a:pPr>
                      <a:r>
                        <a:rPr lang="en-US" sz="1000" b="1" dirty="0">
                          <a:solidFill>
                            <a:srgbClr val="1E293B"/>
                          </a:solidFill>
                          <a:latin typeface="Calibri" pitchFamily="34" charset="0"/>
                          <a:ea typeface="Calibri" pitchFamily="34" charset="-122"/>
                          <a:cs typeface="Calibri" pitchFamily="34" charset="-120"/>
                        </a:rPr>
                        <a:t>Holdout Test ROC-AUC</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0.7972</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A9396"/>
                          </a:solidFill>
                          <a:latin typeface="Calibri" pitchFamily="34" charset="0"/>
                          <a:ea typeface="Calibri" pitchFamily="34" charset="-122"/>
                          <a:cs typeface="Calibri" pitchFamily="34" charset="-120"/>
                        </a:rPr>
                        <a:t>0.9070</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0D2137"/>
                          </a:solidFill>
                          <a:latin typeface="Calibri" pitchFamily="34" charset="0"/>
                          <a:ea typeface="Calibri" pitchFamily="34" charset="-122"/>
                          <a:cs typeface="Calibri" pitchFamily="34" charset="-120"/>
                        </a:rPr>
                        <a:t>0.9151 ✓</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237744">
                <a:tc>
                  <a:txBody>
                    <a:bodyPr/>
                    <a:lstStyle/>
                    <a:p>
                      <a:pPr marL="0" indent="0" algn="l">
                        <a:buNone/>
                      </a:pPr>
                      <a:r>
                        <a:rPr lang="en-US" sz="1000" b="1" dirty="0">
                          <a:solidFill>
                            <a:srgbClr val="1E293B"/>
                          </a:solidFill>
                          <a:latin typeface="Calibri" pitchFamily="34" charset="0"/>
                          <a:ea typeface="Calibri" pitchFamily="34" charset="-122"/>
                          <a:cs typeface="Calibri" pitchFamily="34" charset="-120"/>
                        </a:rPr>
                        <a:t>5-Fold CV Recall (Mean)</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5F9"/>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9396"/>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D2137"/>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7" name="Text 4"/>
          <p:cNvSpPr/>
          <p:nvPr/>
        </p:nvSpPr>
        <p:spPr>
          <a:xfrm>
            <a:off x="320040" y="2505456"/>
            <a:ext cx="850392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Model Selection Justification</a:t>
            </a:r>
            <a:endParaRPr lang="en-US" sz="1200" dirty="0"/>
          </a:p>
        </p:txBody>
      </p:sp>
      <p:sp>
        <p:nvSpPr>
          <p:cNvPr id="8" name="Shape 5"/>
          <p:cNvSpPr/>
          <p:nvPr/>
        </p:nvSpPr>
        <p:spPr>
          <a:xfrm>
            <a:off x="320040" y="2834640"/>
            <a:ext cx="2697480" cy="1856232"/>
          </a:xfrm>
          <a:prstGeom prst="rect">
            <a:avLst/>
          </a:prstGeom>
          <a:solidFill>
            <a:srgbClr val="FFFFFF"/>
          </a:solidFill>
          <a:ln/>
          <a:effectLst>
            <a:outerShdw blurRad="101600" dist="38100" dir="8100000" algn="bl" rotWithShape="0">
              <a:srgbClr val="000000">
                <a:alpha val="12000"/>
              </a:srgbClr>
            </a:outerShdw>
          </a:effectLst>
        </p:spPr>
      </p:sp>
      <p:sp>
        <p:nvSpPr>
          <p:cNvPr id="6" name="Shape 6"/>
          <p:cNvSpPr/>
          <p:nvPr/>
        </p:nvSpPr>
        <p:spPr>
          <a:xfrm>
            <a:off x="320040" y="2834640"/>
            <a:ext cx="2697480" cy="329184"/>
          </a:xfrm>
          <a:prstGeom prst="rect">
            <a:avLst/>
          </a:prstGeom>
          <a:solidFill>
            <a:srgbClr val="0A9396"/>
          </a:solidFill>
          <a:ln/>
        </p:spPr>
      </p:sp>
      <p:sp>
        <p:nvSpPr>
          <p:cNvPr id="10" name="Text 7"/>
          <p:cNvSpPr/>
          <p:nvPr/>
        </p:nvSpPr>
        <p:spPr>
          <a:xfrm>
            <a:off x="411480" y="2834640"/>
            <a:ext cx="2560320"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Random Forest — Clinical Champion</a:t>
            </a:r>
            <a:endParaRPr lang="en-US" sz="900" dirty="0"/>
          </a:p>
        </p:txBody>
      </p:sp>
      <p:sp>
        <p:nvSpPr>
          <p:cNvPr id="11" name="Text 8"/>
          <p:cNvSpPr/>
          <p:nvPr/>
        </p:nvSpPr>
        <p:spPr>
          <a:xfrm>
            <a:off x="411480" y="3209544"/>
            <a:ext cx="2542032" cy="1426464"/>
          </a:xfrm>
          <a:prstGeom prst="rect">
            <a:avLst/>
          </a:prstGeom>
          <a:noFill/>
          <a:ln/>
        </p:spPr>
        <p:txBody>
          <a:bodyPr wrap="square" lIns="0" tIns="0" rIns="0" bIns="0" rtlCol="0" anchor="ctr"/>
          <a:lstStyle/>
          <a:p>
            <a:pPr marL="0" indent="0">
              <a:buNone/>
            </a:pPr>
            <a:r>
              <a:rPr lang="en-US" sz="780" dirty="0">
                <a:solidFill>
                  <a:srgbClr val="1E293B"/>
                </a:solidFill>
                <a:latin typeface="Calibri" pitchFamily="34" charset="0"/>
                <a:ea typeface="Calibri" pitchFamily="34" charset="-122"/>
                <a:cs typeface="Calibri" pitchFamily="34" charset="-120"/>
              </a:rPr>
              <a:t>Achieves the highest Recall score of 90.20%, correctly identifying 9 out of every 10 true cardiac disease patients in the holdout set. In a clinical triage context, Recall (Sensitivity) is the non-negotiable primary metric. Missing a high-risk patient (False Negative) leads to patient discharge without intervention — a potentially fatal error. The Random Forest minimizes this risk more effectively than either alternative model.</a:t>
            </a:r>
            <a:endParaRPr lang="en-US" sz="780" dirty="0"/>
          </a:p>
        </p:txBody>
      </p:sp>
      <p:sp>
        <p:nvSpPr>
          <p:cNvPr id="12" name="Shape 9"/>
          <p:cNvSpPr/>
          <p:nvPr/>
        </p:nvSpPr>
        <p:spPr>
          <a:xfrm>
            <a:off x="3200400" y="2834640"/>
            <a:ext cx="2697480" cy="1856232"/>
          </a:xfrm>
          <a:prstGeom prst="rect">
            <a:avLst/>
          </a:prstGeom>
          <a:solidFill>
            <a:srgbClr val="FFFFFF"/>
          </a:solidFill>
          <a:ln/>
          <a:effectLst>
            <a:outerShdw blurRad="101600" dist="38100" dir="8100000" algn="bl" rotWithShape="0">
              <a:srgbClr val="000000">
                <a:alpha val="12000"/>
              </a:srgbClr>
            </a:outerShdw>
          </a:effectLst>
        </p:spPr>
      </p:sp>
      <p:sp>
        <p:nvSpPr>
          <p:cNvPr id="13" name="Shape 10"/>
          <p:cNvSpPr/>
          <p:nvPr/>
        </p:nvSpPr>
        <p:spPr>
          <a:xfrm>
            <a:off x="3200400" y="2834640"/>
            <a:ext cx="2697480" cy="329184"/>
          </a:xfrm>
          <a:prstGeom prst="rect">
            <a:avLst/>
          </a:prstGeom>
          <a:solidFill>
            <a:srgbClr val="5E60CE"/>
          </a:solidFill>
          <a:ln/>
        </p:spPr>
      </p:sp>
      <p:sp>
        <p:nvSpPr>
          <p:cNvPr id="14" name="Text 11"/>
          <p:cNvSpPr/>
          <p:nvPr/>
        </p:nvSpPr>
        <p:spPr>
          <a:xfrm>
            <a:off x="3291840" y="2834640"/>
            <a:ext cx="2560320"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XGBoost — Overall Performance Leader</a:t>
            </a:r>
            <a:endParaRPr lang="en-US" sz="900" dirty="0"/>
          </a:p>
        </p:txBody>
      </p:sp>
      <p:sp>
        <p:nvSpPr>
          <p:cNvPr id="15" name="Text 12"/>
          <p:cNvSpPr/>
          <p:nvPr/>
        </p:nvSpPr>
        <p:spPr>
          <a:xfrm>
            <a:off x="3291840" y="3209544"/>
            <a:ext cx="2542032" cy="1426464"/>
          </a:xfrm>
          <a:prstGeom prst="rect">
            <a:avLst/>
          </a:prstGeom>
          <a:noFill/>
          <a:ln/>
        </p:spPr>
        <p:txBody>
          <a:bodyPr wrap="square" lIns="0" tIns="0" rIns="0" bIns="0" rtlCol="0" anchor="ctr"/>
          <a:lstStyle/>
          <a:p>
            <a:pPr marL="0" indent="0">
              <a:buNone/>
            </a:pPr>
            <a:r>
              <a:rPr lang="en-US" sz="780" dirty="0">
                <a:solidFill>
                  <a:srgbClr val="1E293B"/>
                </a:solidFill>
                <a:latin typeface="Calibri" pitchFamily="34" charset="0"/>
                <a:ea typeface="Calibri" pitchFamily="34" charset="-122"/>
                <a:cs typeface="Calibri" pitchFamily="34" charset="-120"/>
              </a:rPr>
              <a:t>Delivers the best ROC-AUC score of 0.9151 and highest Test Accuracy of 85.33%, demonstrating superior discriminatory power across the full probability threshold spectrum. ROC-AUC measures the model's ability to rank high-risk patients above healthy ones regardless of any fixed decision threshold. XGBoost is ideal if the deployment threshold is adjustable or if both Recall and Precision need to be jointly optimized.</a:t>
            </a:r>
            <a:endParaRPr lang="en-US" sz="780" dirty="0"/>
          </a:p>
        </p:txBody>
      </p:sp>
      <p:sp>
        <p:nvSpPr>
          <p:cNvPr id="16" name="Shape 13"/>
          <p:cNvSpPr/>
          <p:nvPr/>
        </p:nvSpPr>
        <p:spPr>
          <a:xfrm>
            <a:off x="6080760" y="2834640"/>
            <a:ext cx="2697480" cy="1856232"/>
          </a:xfrm>
          <a:prstGeom prst="rect">
            <a:avLst/>
          </a:prstGeom>
          <a:solidFill>
            <a:srgbClr val="FFFFFF"/>
          </a:solidFill>
          <a:ln/>
          <a:effectLst>
            <a:outerShdw blurRad="101600" dist="38100" dir="8100000" algn="bl" rotWithShape="0">
              <a:srgbClr val="000000">
                <a:alpha val="12000"/>
              </a:srgbClr>
            </a:outerShdw>
          </a:effectLst>
        </p:spPr>
      </p:sp>
      <p:sp>
        <p:nvSpPr>
          <p:cNvPr id="17" name="Shape 14"/>
          <p:cNvSpPr/>
          <p:nvPr/>
        </p:nvSpPr>
        <p:spPr>
          <a:xfrm>
            <a:off x="6080760" y="2834640"/>
            <a:ext cx="2697480" cy="329184"/>
          </a:xfrm>
          <a:prstGeom prst="rect">
            <a:avLst/>
          </a:prstGeom>
          <a:solidFill>
            <a:srgbClr val="6B7280"/>
          </a:solidFill>
          <a:ln/>
        </p:spPr>
      </p:sp>
      <p:sp>
        <p:nvSpPr>
          <p:cNvPr id="18" name="Text 15"/>
          <p:cNvSpPr/>
          <p:nvPr/>
        </p:nvSpPr>
        <p:spPr>
          <a:xfrm>
            <a:off x="6172200" y="2834640"/>
            <a:ext cx="2560320"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Logistic Regression — Interpretable Baseline</a:t>
            </a:r>
            <a:endParaRPr lang="en-US" sz="900" dirty="0"/>
          </a:p>
        </p:txBody>
      </p:sp>
      <p:sp>
        <p:nvSpPr>
          <p:cNvPr id="19" name="Text 16"/>
          <p:cNvSpPr/>
          <p:nvPr/>
        </p:nvSpPr>
        <p:spPr>
          <a:xfrm>
            <a:off x="6172200" y="3209544"/>
            <a:ext cx="2542032" cy="1426464"/>
          </a:xfrm>
          <a:prstGeom prst="rect">
            <a:avLst/>
          </a:prstGeom>
          <a:noFill/>
          <a:ln/>
        </p:spPr>
        <p:txBody>
          <a:bodyPr wrap="square" lIns="0" tIns="0" rIns="0" bIns="0" rtlCol="0" anchor="ctr"/>
          <a:lstStyle/>
          <a:p>
            <a:pPr marL="0" indent="0">
              <a:buNone/>
            </a:pPr>
            <a:r>
              <a:rPr lang="en-US" sz="780" dirty="0">
                <a:solidFill>
                  <a:srgbClr val="1E293B"/>
                </a:solidFill>
                <a:latin typeface="Calibri" pitchFamily="34" charset="0"/>
                <a:ea typeface="Calibri" pitchFamily="34" charset="-122"/>
                <a:cs typeface="Calibri" pitchFamily="34" charset="-120"/>
              </a:rPr>
              <a:t>Provides an acceptable Recall of 83.33% and ROC-AUC of 0.7972 as a transparent linear baseline. While outperformed by both ensemble methods, it retains value in regulatory environments requiring explainable coefficient-based risk factor visibility. Its predictions can be directly tied to individual feature weights — a significant advantage in healthcare audits and liability discussions with medical boards.</a:t>
            </a:r>
            <a:endParaRPr lang="en-US" sz="780" dirty="0"/>
          </a:p>
        </p:txBody>
      </p:sp>
      <p:sp>
        <p:nvSpPr>
          <p:cNvPr id="20" name="Shape 17"/>
          <p:cNvSpPr/>
          <p:nvPr/>
        </p:nvSpPr>
        <p:spPr>
          <a:xfrm>
            <a:off x="0" y="4892040"/>
            <a:ext cx="9144000" cy="251460"/>
          </a:xfrm>
          <a:prstGeom prst="rect">
            <a:avLst/>
          </a:prstGeom>
          <a:solidFill>
            <a:srgbClr val="0D2137"/>
          </a:solidFill>
          <a:ln/>
        </p:spPr>
      </p:sp>
      <p:sp>
        <p:nvSpPr>
          <p:cNvPr id="21" name="Text 18"/>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22" name="Text 19"/>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sp>
      <p:sp>
        <p:nvSpPr>
          <p:cNvPr id="3" name="Shape 1"/>
          <p:cNvSpPr/>
          <p:nvPr/>
        </p:nvSpPr>
        <p:spPr>
          <a:xfrm>
            <a:off x="164592" y="0"/>
            <a:ext cx="8979408" cy="685800"/>
          </a:xfrm>
          <a:prstGeom prst="rect">
            <a:avLst/>
          </a:prstGeom>
          <a:solidFill>
            <a:srgbClr val="0D2137"/>
          </a:solidFill>
          <a:ln/>
        </p:spPr>
      </p:sp>
      <p:sp>
        <p:nvSpPr>
          <p:cNvPr id="4" name="Text 2"/>
          <p:cNvSpPr/>
          <p:nvPr/>
        </p:nvSpPr>
        <p:spPr>
          <a:xfrm>
            <a:off x="347472" y="73152"/>
            <a:ext cx="804672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Interpretation &amp; Patient Risk Stratification Engine</a:t>
            </a:r>
            <a:endParaRPr lang="en-US" sz="2200" dirty="0"/>
          </a:p>
        </p:txBody>
      </p:sp>
      <p:sp>
        <p:nvSpPr>
          <p:cNvPr id="5" name="Text 3"/>
          <p:cNvSpPr/>
          <p:nvPr/>
        </p:nvSpPr>
        <p:spPr>
          <a:xfrm>
            <a:off x="320040" y="804672"/>
            <a:ext cx="8503920" cy="274320"/>
          </a:xfrm>
          <a:prstGeom prst="rect">
            <a:avLst/>
          </a:prstGeom>
          <a:noFill/>
          <a:ln/>
        </p:spPr>
        <p:txBody>
          <a:bodyPr wrap="square" lIns="0" tIns="0" rIns="0" bIns="0"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From Probability Score to Clinical Action</a:t>
            </a:r>
            <a:endParaRPr lang="en-US" sz="1200" dirty="0"/>
          </a:p>
        </p:txBody>
      </p:sp>
      <p:sp>
        <p:nvSpPr>
          <p:cNvPr id="6" name="Text 4"/>
          <p:cNvSpPr/>
          <p:nvPr/>
        </p:nvSpPr>
        <p:spPr>
          <a:xfrm>
            <a:off x="320040" y="1115568"/>
            <a:ext cx="8503920" cy="256032"/>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Instead of binary 0/1 outputs, the champion model's continuous probability vector is mapped into a 3-tier operational triage engine:</a:t>
            </a:r>
            <a:endParaRPr lang="en-US" sz="950" dirty="0"/>
          </a:p>
        </p:txBody>
      </p:sp>
      <p:sp>
        <p:nvSpPr>
          <p:cNvPr id="7" name="Shape 5"/>
          <p:cNvSpPr/>
          <p:nvPr/>
        </p:nvSpPr>
        <p:spPr>
          <a:xfrm>
            <a:off x="320040" y="1463040"/>
            <a:ext cx="8503920" cy="1005840"/>
          </a:xfrm>
          <a:prstGeom prst="rect">
            <a:avLst/>
          </a:prstGeom>
          <a:solidFill>
            <a:srgbClr val="FFFFFF"/>
          </a:solidFill>
          <a:ln/>
          <a:effectLst>
            <a:outerShdw blurRad="101600" dist="38100" dir="8100000" algn="bl" rotWithShape="0">
              <a:srgbClr val="000000">
                <a:alpha val="12000"/>
              </a:srgbClr>
            </a:outerShdw>
          </a:effectLst>
        </p:spPr>
      </p:sp>
      <p:sp>
        <p:nvSpPr>
          <p:cNvPr id="8" name="Shape 6"/>
          <p:cNvSpPr/>
          <p:nvPr/>
        </p:nvSpPr>
        <p:spPr>
          <a:xfrm>
            <a:off x="320040" y="1463040"/>
            <a:ext cx="1920240" cy="1005840"/>
          </a:xfrm>
          <a:prstGeom prst="rect">
            <a:avLst/>
          </a:prstGeom>
          <a:solidFill>
            <a:srgbClr val="2DC653"/>
          </a:solidFill>
          <a:ln/>
        </p:spPr>
      </p:sp>
      <p:sp>
        <p:nvSpPr>
          <p:cNvPr id="9" name="Text 7"/>
          <p:cNvSpPr/>
          <p:nvPr/>
        </p:nvSpPr>
        <p:spPr>
          <a:xfrm>
            <a:off x="320040" y="1499616"/>
            <a:ext cx="192024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LOW RISK</a:t>
            </a:r>
            <a:endParaRPr lang="en-US" sz="1000" dirty="0"/>
          </a:p>
        </p:txBody>
      </p:sp>
      <p:sp>
        <p:nvSpPr>
          <p:cNvPr id="10" name="Text 8"/>
          <p:cNvSpPr/>
          <p:nvPr/>
        </p:nvSpPr>
        <p:spPr>
          <a:xfrm>
            <a:off x="320040" y="1901952"/>
            <a:ext cx="1920240" cy="23774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Probability: 0.00 – 0.35</a:t>
            </a:r>
            <a:endParaRPr lang="en-US" sz="850" dirty="0"/>
          </a:p>
        </p:txBody>
      </p:sp>
      <p:sp>
        <p:nvSpPr>
          <p:cNvPr id="11" name="Text 9"/>
          <p:cNvSpPr/>
          <p:nvPr/>
        </p:nvSpPr>
        <p:spPr>
          <a:xfrm>
            <a:off x="2359152" y="1517904"/>
            <a:ext cx="6355080" cy="274320"/>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Routine Care &amp; Preventive Monitoring</a:t>
            </a:r>
            <a:endParaRPr lang="en-US" sz="1100" dirty="0"/>
          </a:p>
        </p:txBody>
      </p:sp>
      <p:sp>
        <p:nvSpPr>
          <p:cNvPr id="12" name="Text 10"/>
          <p:cNvSpPr/>
          <p:nvPr/>
        </p:nvSpPr>
        <p:spPr>
          <a:xfrm>
            <a:off x="2359152" y="1828800"/>
            <a:ext cx="6355080" cy="603504"/>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Clinical Action: Patient exhibits stable baseline metrics and no alarming ECG abnormalities. Schedule a routine follow-up consultation within 6 months. Provide standard preventive health guidance including dietary recommendations and exercise activity targets. No urgent escalation or specialist involvement required at this stage.</a:t>
            </a:r>
            <a:endParaRPr lang="en-US" sz="850" dirty="0"/>
          </a:p>
        </p:txBody>
      </p:sp>
      <p:sp>
        <p:nvSpPr>
          <p:cNvPr id="13" name="Shape 11"/>
          <p:cNvSpPr/>
          <p:nvPr/>
        </p:nvSpPr>
        <p:spPr>
          <a:xfrm>
            <a:off x="320040" y="2560320"/>
            <a:ext cx="8503920" cy="1005840"/>
          </a:xfrm>
          <a:prstGeom prst="rect">
            <a:avLst/>
          </a:prstGeom>
          <a:solidFill>
            <a:srgbClr val="FFFFFF"/>
          </a:solidFill>
          <a:ln/>
          <a:effectLst>
            <a:outerShdw blurRad="101600" dist="38100" dir="8100000" algn="bl" rotWithShape="0">
              <a:srgbClr val="000000">
                <a:alpha val="12000"/>
              </a:srgbClr>
            </a:outerShdw>
          </a:effectLst>
        </p:spPr>
      </p:sp>
      <p:sp>
        <p:nvSpPr>
          <p:cNvPr id="14" name="Shape 12"/>
          <p:cNvSpPr/>
          <p:nvPr/>
        </p:nvSpPr>
        <p:spPr>
          <a:xfrm>
            <a:off x="320040" y="2560320"/>
            <a:ext cx="1920240" cy="1005840"/>
          </a:xfrm>
          <a:prstGeom prst="rect">
            <a:avLst/>
          </a:prstGeom>
          <a:solidFill>
            <a:srgbClr val="F4A261"/>
          </a:solidFill>
          <a:ln/>
        </p:spPr>
      </p:sp>
      <p:sp>
        <p:nvSpPr>
          <p:cNvPr id="15" name="Text 13"/>
          <p:cNvSpPr/>
          <p:nvPr/>
        </p:nvSpPr>
        <p:spPr>
          <a:xfrm>
            <a:off x="320040" y="2596896"/>
            <a:ext cx="192024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MEDIUM RISK</a:t>
            </a:r>
            <a:endParaRPr lang="en-US" sz="1000" dirty="0"/>
          </a:p>
        </p:txBody>
      </p:sp>
      <p:sp>
        <p:nvSpPr>
          <p:cNvPr id="16" name="Text 14"/>
          <p:cNvSpPr/>
          <p:nvPr/>
        </p:nvSpPr>
        <p:spPr>
          <a:xfrm>
            <a:off x="320040" y="2999232"/>
            <a:ext cx="1920240" cy="23774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Probability: 0.35 – 0.70</a:t>
            </a:r>
            <a:endParaRPr lang="en-US" sz="850" dirty="0"/>
          </a:p>
        </p:txBody>
      </p:sp>
      <p:sp>
        <p:nvSpPr>
          <p:cNvPr id="17" name="Text 15"/>
          <p:cNvSpPr/>
          <p:nvPr/>
        </p:nvSpPr>
        <p:spPr>
          <a:xfrm>
            <a:off x="2359152" y="2615184"/>
            <a:ext cx="6355080" cy="274320"/>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Lifestyle Intervention &amp; Close Monitoring</a:t>
            </a:r>
            <a:endParaRPr lang="en-US" sz="1100" dirty="0"/>
          </a:p>
        </p:txBody>
      </p:sp>
      <p:sp>
        <p:nvSpPr>
          <p:cNvPr id="18" name="Text 16"/>
          <p:cNvSpPr/>
          <p:nvPr/>
        </p:nvSpPr>
        <p:spPr>
          <a:xfrm>
            <a:off x="2359152" y="2926080"/>
            <a:ext cx="6355080" cy="603504"/>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Clinical Action: Patient shows borderline biomarkers or moderate ECG irregularities. Refer immediately to a preventive care coordinator. Initiate a personalized lifestyle modification plan: low-sodium diet, supervised cardiac exercise program, and stress management protocol. Schedule a mandatory 90-day clinical re-assessment with repeat blood panel and ECG analysis.</a:t>
            </a:r>
            <a:endParaRPr lang="en-US" sz="850" dirty="0"/>
          </a:p>
        </p:txBody>
      </p:sp>
      <p:sp>
        <p:nvSpPr>
          <p:cNvPr id="19" name="Shape 17"/>
          <p:cNvSpPr/>
          <p:nvPr/>
        </p:nvSpPr>
        <p:spPr>
          <a:xfrm>
            <a:off x="320040" y="3657600"/>
            <a:ext cx="8503920" cy="1005840"/>
          </a:xfrm>
          <a:prstGeom prst="rect">
            <a:avLst/>
          </a:prstGeom>
          <a:solidFill>
            <a:srgbClr val="FFFFFF"/>
          </a:solidFill>
          <a:ln/>
          <a:effectLst>
            <a:outerShdw blurRad="101600" dist="38100" dir="8100000" algn="bl" rotWithShape="0">
              <a:srgbClr val="000000">
                <a:alpha val="12000"/>
              </a:srgbClr>
            </a:outerShdw>
          </a:effectLst>
        </p:spPr>
      </p:sp>
      <p:sp>
        <p:nvSpPr>
          <p:cNvPr id="20" name="Shape 18"/>
          <p:cNvSpPr/>
          <p:nvPr/>
        </p:nvSpPr>
        <p:spPr>
          <a:xfrm>
            <a:off x="320040" y="3657600"/>
            <a:ext cx="1920240" cy="1005840"/>
          </a:xfrm>
          <a:prstGeom prst="rect">
            <a:avLst/>
          </a:prstGeom>
          <a:solidFill>
            <a:srgbClr val="E63946"/>
          </a:solidFill>
          <a:ln/>
        </p:spPr>
      </p:sp>
      <p:sp>
        <p:nvSpPr>
          <p:cNvPr id="21" name="Text 19"/>
          <p:cNvSpPr/>
          <p:nvPr/>
        </p:nvSpPr>
        <p:spPr>
          <a:xfrm>
            <a:off x="320040" y="3694176"/>
            <a:ext cx="192024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HIGH RISK</a:t>
            </a:r>
            <a:endParaRPr lang="en-US" sz="1000" dirty="0"/>
          </a:p>
        </p:txBody>
      </p:sp>
      <p:sp>
        <p:nvSpPr>
          <p:cNvPr id="22" name="Text 20"/>
          <p:cNvSpPr/>
          <p:nvPr/>
        </p:nvSpPr>
        <p:spPr>
          <a:xfrm>
            <a:off x="320040" y="4096512"/>
            <a:ext cx="1920240" cy="23774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Probability: 0.70 – 1.00</a:t>
            </a:r>
            <a:endParaRPr lang="en-US" sz="850" dirty="0"/>
          </a:p>
        </p:txBody>
      </p:sp>
      <p:sp>
        <p:nvSpPr>
          <p:cNvPr id="23" name="Text 21"/>
          <p:cNvSpPr/>
          <p:nvPr/>
        </p:nvSpPr>
        <p:spPr>
          <a:xfrm>
            <a:off x="2359152" y="3712464"/>
            <a:ext cx="6355080" cy="274320"/>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Urgent Specialist Referral &amp; Intervention</a:t>
            </a:r>
            <a:endParaRPr lang="en-US" sz="1100" dirty="0"/>
          </a:p>
        </p:txBody>
      </p:sp>
      <p:sp>
        <p:nvSpPr>
          <p:cNvPr id="24" name="Text 22"/>
          <p:cNvSpPr/>
          <p:nvPr/>
        </p:nvSpPr>
        <p:spPr>
          <a:xfrm>
            <a:off x="2359152" y="4023360"/>
            <a:ext cx="6355080" cy="603504"/>
          </a:xfrm>
          <a:prstGeom prst="rect">
            <a:avLst/>
          </a:prstGeom>
          <a:noFill/>
          <a:ln/>
        </p:spPr>
        <p:txBody>
          <a:bodyPr wrap="square" lIns="0" tIns="0" rIns="0" bIns="0" rtlCol="0" anchor="ctr"/>
          <a:lstStyle/>
          <a:p>
            <a:pPr marL="0" indent="0">
              <a:buNone/>
            </a:pPr>
            <a:r>
              <a:rPr lang="en-US" sz="850" dirty="0">
                <a:solidFill>
                  <a:srgbClr val="374151"/>
                </a:solidFill>
                <a:latin typeface="Calibri" pitchFamily="34" charset="0"/>
                <a:ea typeface="Calibri" pitchFamily="34" charset="-122"/>
                <a:cs typeface="Calibri" pitchFamily="34" charset="-120"/>
              </a:rPr>
              <a:t>Clinical Action: Patient presents with high probability of active or imminent cardiac disease. Escalate immediately to a senior cardiologist for in-person evaluation. Initiate priority scheduling for a diagnostic catheterization lab appointment. Consider emergency pharmacological intervention and continuous cardiac monitoring admission to prevent acute coronary syndrome.</a:t>
            </a:r>
            <a:endParaRPr lang="en-US" sz="850" dirty="0"/>
          </a:p>
        </p:txBody>
      </p:sp>
      <p:sp>
        <p:nvSpPr>
          <p:cNvPr id="25" name="Shape 23"/>
          <p:cNvSpPr/>
          <p:nvPr/>
        </p:nvSpPr>
        <p:spPr>
          <a:xfrm>
            <a:off x="320040" y="4764024"/>
            <a:ext cx="8503920" cy="18288"/>
          </a:xfrm>
          <a:prstGeom prst="rect">
            <a:avLst/>
          </a:prstGeom>
          <a:solidFill>
            <a:srgbClr val="0A9396"/>
          </a:solidFill>
          <a:ln/>
        </p:spPr>
      </p:sp>
      <p:sp>
        <p:nvSpPr>
          <p:cNvPr id="26" name="Shape 24"/>
          <p:cNvSpPr/>
          <p:nvPr/>
        </p:nvSpPr>
        <p:spPr>
          <a:xfrm>
            <a:off x="0" y="4892040"/>
            <a:ext cx="9144000" cy="251460"/>
          </a:xfrm>
          <a:prstGeom prst="rect">
            <a:avLst/>
          </a:prstGeom>
          <a:solidFill>
            <a:srgbClr val="0D2137"/>
          </a:solidFill>
          <a:ln/>
        </p:spPr>
      </p:sp>
      <p:sp>
        <p:nvSpPr>
          <p:cNvPr id="27" name="Text 25"/>
          <p:cNvSpPr/>
          <p:nvPr/>
        </p:nvSpPr>
        <p:spPr>
          <a:xfrm>
            <a:off x="182880" y="4901184"/>
            <a:ext cx="6858000" cy="228600"/>
          </a:xfrm>
          <a:prstGeom prst="rect">
            <a:avLst/>
          </a:prstGeom>
          <a:noFill/>
          <a:ln/>
        </p:spPr>
        <p:txBody>
          <a:bodyPr wrap="square" lIns="0" tIns="0" rIns="0" bIns="0" rtlCol="0" anchor="ctr"/>
          <a:lstStyle/>
          <a:p>
            <a:pPr marL="0" indent="0">
              <a:buNone/>
            </a:pPr>
            <a:r>
              <a:rPr lang="en-US" sz="800" dirty="0">
                <a:solidFill>
                  <a:srgbClr val="94D2BD"/>
                </a:solidFill>
                <a:latin typeface="Calibri" pitchFamily="34" charset="0"/>
                <a:ea typeface="Calibri" pitchFamily="34" charset="-122"/>
                <a:cs typeface="Calibri" pitchFamily="34" charset="-120"/>
              </a:rPr>
              <a:t>Healthcare Analytics | CVD Risk Prediction &amp; Stratification Engine</a:t>
            </a:r>
            <a:endParaRPr lang="en-US" sz="800" dirty="0"/>
          </a:p>
        </p:txBody>
      </p:sp>
      <p:sp>
        <p:nvSpPr>
          <p:cNvPr id="28" name="Text 26"/>
          <p:cNvSpPr/>
          <p:nvPr/>
        </p:nvSpPr>
        <p:spPr>
          <a:xfrm>
            <a:off x="8229600" y="4901184"/>
            <a:ext cx="640080" cy="2286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A9396"/>
          </a:solidFill>
          <a:ln/>
        </p:spPr>
      </p:sp>
      <p:sp>
        <p:nvSpPr>
          <p:cNvPr id="3" name="Text 1"/>
          <p:cNvSpPr/>
          <p:nvPr/>
        </p:nvSpPr>
        <p:spPr>
          <a:xfrm>
            <a:off x="411480" y="228600"/>
            <a:ext cx="8229600" cy="530352"/>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 &amp; Key Takeaways</a:t>
            </a:r>
            <a:endParaRPr lang="en-US" sz="2600" dirty="0"/>
          </a:p>
        </p:txBody>
      </p:sp>
      <p:sp>
        <p:nvSpPr>
          <p:cNvPr id="4" name="Shape 2"/>
          <p:cNvSpPr/>
          <p:nvPr/>
        </p:nvSpPr>
        <p:spPr>
          <a:xfrm>
            <a:off x="411480" y="804672"/>
            <a:ext cx="8321040" cy="27432"/>
          </a:xfrm>
          <a:prstGeom prst="rect">
            <a:avLst/>
          </a:prstGeom>
          <a:solidFill>
            <a:srgbClr val="0A9396"/>
          </a:solidFill>
          <a:ln/>
        </p:spPr>
      </p:sp>
      <p:sp>
        <p:nvSpPr>
          <p:cNvPr id="5" name="Shape 3"/>
          <p:cNvSpPr/>
          <p:nvPr/>
        </p:nvSpPr>
        <p:spPr>
          <a:xfrm>
            <a:off x="411480" y="914400"/>
            <a:ext cx="4206240" cy="1143000"/>
          </a:xfrm>
          <a:prstGeom prst="rect">
            <a:avLst/>
          </a:prstGeom>
          <a:solidFill>
            <a:srgbClr val="0D2F4A"/>
          </a:solidFill>
          <a:ln/>
          <a:effectLst>
            <a:outerShdw blurRad="101600" dist="38100" dir="8100000" algn="bl" rotWithShape="0">
              <a:srgbClr val="000000">
                <a:alpha val="12000"/>
              </a:srgbClr>
            </a:outerShdw>
          </a:effectLst>
        </p:spPr>
      </p:sp>
      <p:sp>
        <p:nvSpPr>
          <p:cNvPr id="6" name="Shape 4"/>
          <p:cNvSpPr/>
          <p:nvPr/>
        </p:nvSpPr>
        <p:spPr>
          <a:xfrm>
            <a:off x="411480" y="914400"/>
            <a:ext cx="502920" cy="1143000"/>
          </a:xfrm>
          <a:prstGeom prst="rect">
            <a:avLst/>
          </a:prstGeom>
          <a:solidFill>
            <a:srgbClr val="0A9396"/>
          </a:solidFill>
          <a:ln/>
        </p:spPr>
      </p:sp>
      <p:sp>
        <p:nvSpPr>
          <p:cNvPr id="7" name="Text 5"/>
          <p:cNvSpPr/>
          <p:nvPr/>
        </p:nvSpPr>
        <p:spPr>
          <a:xfrm>
            <a:off x="411480" y="914400"/>
            <a:ext cx="502920" cy="11430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1005840" y="1005840"/>
            <a:ext cx="3520440" cy="9601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Multi-Site Dataset: 921 patient records from 4 international institutions (Cleveland, Budapest, Zurich, Long Beach) providing diverse clinical coverage.</a:t>
            </a:r>
            <a:endParaRPr lang="en-US" sz="850" dirty="0"/>
          </a:p>
        </p:txBody>
      </p:sp>
      <p:sp>
        <p:nvSpPr>
          <p:cNvPr id="9" name="Shape 7"/>
          <p:cNvSpPr/>
          <p:nvPr/>
        </p:nvSpPr>
        <p:spPr>
          <a:xfrm>
            <a:off x="411480" y="2176272"/>
            <a:ext cx="4206240" cy="1143000"/>
          </a:xfrm>
          <a:prstGeom prst="rect">
            <a:avLst/>
          </a:prstGeom>
          <a:solidFill>
            <a:srgbClr val="0D2F4A"/>
          </a:solidFill>
          <a:ln/>
          <a:effectLst>
            <a:outerShdw blurRad="101600" dist="38100" dir="8100000" algn="bl" rotWithShape="0">
              <a:srgbClr val="000000">
                <a:alpha val="12000"/>
              </a:srgbClr>
            </a:outerShdw>
          </a:effectLst>
        </p:spPr>
      </p:sp>
      <p:sp>
        <p:nvSpPr>
          <p:cNvPr id="10" name="Shape 8"/>
          <p:cNvSpPr/>
          <p:nvPr/>
        </p:nvSpPr>
        <p:spPr>
          <a:xfrm>
            <a:off x="411480" y="2176272"/>
            <a:ext cx="502920" cy="1143000"/>
          </a:xfrm>
          <a:prstGeom prst="rect">
            <a:avLst/>
          </a:prstGeom>
          <a:solidFill>
            <a:srgbClr val="0A9396"/>
          </a:solidFill>
          <a:ln/>
        </p:spPr>
      </p:sp>
      <p:sp>
        <p:nvSpPr>
          <p:cNvPr id="11" name="Text 9"/>
          <p:cNvSpPr/>
          <p:nvPr/>
        </p:nvSpPr>
        <p:spPr>
          <a:xfrm>
            <a:off x="411480" y="2176272"/>
            <a:ext cx="502920" cy="11430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1005840" y="2267712"/>
            <a:ext cx="3520440" cy="9601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Advanced Imputation: MICE (Multivariate Imputation by Chained Equations) preserved physiological correlations across 3 moderately incomplete features without sacrificing sample volume.</a:t>
            </a:r>
            <a:endParaRPr lang="en-US" sz="850" dirty="0"/>
          </a:p>
        </p:txBody>
      </p:sp>
      <p:sp>
        <p:nvSpPr>
          <p:cNvPr id="13" name="Shape 11"/>
          <p:cNvSpPr/>
          <p:nvPr/>
        </p:nvSpPr>
        <p:spPr>
          <a:xfrm>
            <a:off x="411480" y="3438144"/>
            <a:ext cx="4206240" cy="1143000"/>
          </a:xfrm>
          <a:prstGeom prst="rect">
            <a:avLst/>
          </a:prstGeom>
          <a:solidFill>
            <a:srgbClr val="0D2F4A"/>
          </a:solidFill>
          <a:ln/>
          <a:effectLst>
            <a:outerShdw blurRad="101600" dist="38100" dir="8100000" algn="bl" rotWithShape="0">
              <a:srgbClr val="000000">
                <a:alpha val="12000"/>
              </a:srgbClr>
            </a:outerShdw>
          </a:effectLst>
        </p:spPr>
      </p:sp>
      <p:sp>
        <p:nvSpPr>
          <p:cNvPr id="14" name="Shape 12"/>
          <p:cNvSpPr/>
          <p:nvPr/>
        </p:nvSpPr>
        <p:spPr>
          <a:xfrm>
            <a:off x="411480" y="3438144"/>
            <a:ext cx="502920" cy="1143000"/>
          </a:xfrm>
          <a:prstGeom prst="rect">
            <a:avLst/>
          </a:prstGeom>
          <a:solidFill>
            <a:srgbClr val="0A9396"/>
          </a:solidFill>
          <a:ln/>
        </p:spPr>
      </p:sp>
      <p:sp>
        <p:nvSpPr>
          <p:cNvPr id="15" name="Text 13"/>
          <p:cNvSpPr/>
          <p:nvPr/>
        </p:nvSpPr>
        <p:spPr>
          <a:xfrm>
            <a:off x="411480" y="3438144"/>
            <a:ext cx="502920" cy="11430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1005840" y="3529584"/>
            <a:ext cx="3520440" cy="9601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Recall Champion: Random Forest Ensemble achieved 90.20% Test Recall — correctly identifying the highest proportion of true cardiac disease patients, making it the preferred clinical deployment choice.</a:t>
            </a:r>
            <a:endParaRPr lang="en-US" sz="850" dirty="0"/>
          </a:p>
        </p:txBody>
      </p:sp>
      <p:sp>
        <p:nvSpPr>
          <p:cNvPr id="17" name="Shape 15"/>
          <p:cNvSpPr/>
          <p:nvPr/>
        </p:nvSpPr>
        <p:spPr>
          <a:xfrm>
            <a:off x="4846320" y="914400"/>
            <a:ext cx="4206240" cy="1143000"/>
          </a:xfrm>
          <a:prstGeom prst="rect">
            <a:avLst/>
          </a:prstGeom>
          <a:solidFill>
            <a:srgbClr val="0D2F4A"/>
          </a:solidFill>
          <a:ln/>
          <a:effectLst>
            <a:outerShdw blurRad="101600" dist="38100" dir="8100000" algn="bl" rotWithShape="0">
              <a:srgbClr val="000000">
                <a:alpha val="12000"/>
              </a:srgbClr>
            </a:outerShdw>
          </a:effectLst>
        </p:spPr>
      </p:sp>
      <p:sp>
        <p:nvSpPr>
          <p:cNvPr id="18" name="Shape 16"/>
          <p:cNvSpPr/>
          <p:nvPr/>
        </p:nvSpPr>
        <p:spPr>
          <a:xfrm>
            <a:off x="4846320" y="914400"/>
            <a:ext cx="502920" cy="1143000"/>
          </a:xfrm>
          <a:prstGeom prst="rect">
            <a:avLst/>
          </a:prstGeom>
          <a:solidFill>
            <a:srgbClr val="0A9396"/>
          </a:solidFill>
          <a:ln/>
        </p:spPr>
      </p:sp>
      <p:sp>
        <p:nvSpPr>
          <p:cNvPr id="19" name="Text 17"/>
          <p:cNvSpPr/>
          <p:nvPr/>
        </p:nvSpPr>
        <p:spPr>
          <a:xfrm>
            <a:off x="4846320" y="914400"/>
            <a:ext cx="502920" cy="11430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5440680" y="1005840"/>
            <a:ext cx="3520440" cy="9601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AUC Champion: XGBoost delivered the strongest overall discrimination (ROC-AUC: 0.9151) and accuracy (85.33%), making it optimal when probability threshold tuning is available.</a:t>
            </a:r>
            <a:endParaRPr lang="en-US" sz="850" dirty="0"/>
          </a:p>
        </p:txBody>
      </p:sp>
      <p:sp>
        <p:nvSpPr>
          <p:cNvPr id="21" name="Shape 19"/>
          <p:cNvSpPr/>
          <p:nvPr/>
        </p:nvSpPr>
        <p:spPr>
          <a:xfrm>
            <a:off x="4846320" y="2176272"/>
            <a:ext cx="4206240" cy="1143000"/>
          </a:xfrm>
          <a:prstGeom prst="rect">
            <a:avLst/>
          </a:prstGeom>
          <a:solidFill>
            <a:srgbClr val="0D2F4A"/>
          </a:solidFill>
          <a:ln/>
          <a:effectLst>
            <a:outerShdw blurRad="101600" dist="38100" dir="8100000" algn="bl" rotWithShape="0">
              <a:srgbClr val="000000">
                <a:alpha val="12000"/>
              </a:srgbClr>
            </a:outerShdw>
          </a:effectLst>
        </p:spPr>
      </p:sp>
      <p:sp>
        <p:nvSpPr>
          <p:cNvPr id="22" name="Shape 20"/>
          <p:cNvSpPr/>
          <p:nvPr/>
        </p:nvSpPr>
        <p:spPr>
          <a:xfrm>
            <a:off x="4846320" y="2176272"/>
            <a:ext cx="502920" cy="1143000"/>
          </a:xfrm>
          <a:prstGeom prst="rect">
            <a:avLst/>
          </a:prstGeom>
          <a:solidFill>
            <a:srgbClr val="0A9396"/>
          </a:solidFill>
          <a:ln/>
        </p:spPr>
      </p:sp>
      <p:sp>
        <p:nvSpPr>
          <p:cNvPr id="23" name="Text 21"/>
          <p:cNvSpPr/>
          <p:nvPr/>
        </p:nvSpPr>
        <p:spPr>
          <a:xfrm>
            <a:off x="4846320" y="2176272"/>
            <a:ext cx="502920" cy="11430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4" name="Text 22"/>
          <p:cNvSpPr/>
          <p:nvPr/>
        </p:nvSpPr>
        <p:spPr>
          <a:xfrm>
            <a:off x="5440680" y="2267712"/>
            <a:ext cx="3520440" cy="9601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3-Tier Triage Engine: Raw probability outputs mapped to Low / Medium / High risk pathways, each with concrete clinical action protocols for direct hospital workflow integration.</a:t>
            </a:r>
            <a:endParaRPr lang="en-US" sz="850" dirty="0"/>
          </a:p>
        </p:txBody>
      </p:sp>
      <p:sp>
        <p:nvSpPr>
          <p:cNvPr id="25" name="Shape 23"/>
          <p:cNvSpPr/>
          <p:nvPr/>
        </p:nvSpPr>
        <p:spPr>
          <a:xfrm>
            <a:off x="4846320" y="3438144"/>
            <a:ext cx="4206240" cy="1143000"/>
          </a:xfrm>
          <a:prstGeom prst="rect">
            <a:avLst/>
          </a:prstGeom>
          <a:solidFill>
            <a:srgbClr val="0D2F4A"/>
          </a:solidFill>
          <a:ln/>
          <a:effectLst>
            <a:outerShdw blurRad="101600" dist="38100" dir="8100000" algn="bl" rotWithShape="0">
              <a:srgbClr val="000000">
                <a:alpha val="12000"/>
              </a:srgbClr>
            </a:outerShdw>
          </a:effectLst>
        </p:spPr>
      </p:sp>
      <p:sp>
        <p:nvSpPr>
          <p:cNvPr id="26" name="Shape 24"/>
          <p:cNvSpPr/>
          <p:nvPr/>
        </p:nvSpPr>
        <p:spPr>
          <a:xfrm>
            <a:off x="4846320" y="3438144"/>
            <a:ext cx="502920" cy="1143000"/>
          </a:xfrm>
          <a:prstGeom prst="rect">
            <a:avLst/>
          </a:prstGeom>
          <a:solidFill>
            <a:srgbClr val="0A9396"/>
          </a:solidFill>
          <a:ln/>
        </p:spPr>
      </p:sp>
      <p:sp>
        <p:nvSpPr>
          <p:cNvPr id="27" name="Text 25"/>
          <p:cNvSpPr/>
          <p:nvPr/>
        </p:nvSpPr>
        <p:spPr>
          <a:xfrm>
            <a:off x="4846320" y="3438144"/>
            <a:ext cx="502920" cy="114300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5440680" y="3529584"/>
            <a:ext cx="3520440" cy="9601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Business Impact: Proactive ML-based screening reduces emergency readmissions, optimizes ICU bed allocation, and drives a measurable shift toward value-based preventive healthcare delivery.</a:t>
            </a:r>
            <a:endParaRPr lang="en-US" sz="850" dirty="0"/>
          </a:p>
        </p:txBody>
      </p:sp>
      <p:sp>
        <p:nvSpPr>
          <p:cNvPr id="29" name="Shape 27"/>
          <p:cNvSpPr/>
          <p:nvPr/>
        </p:nvSpPr>
        <p:spPr>
          <a:xfrm>
            <a:off x="2560320" y="4645152"/>
            <a:ext cx="4023360" cy="365760"/>
          </a:xfrm>
          <a:prstGeom prst="rect">
            <a:avLst/>
          </a:prstGeom>
          <a:solidFill>
            <a:srgbClr val="0A9396"/>
          </a:solidFill>
          <a:ln/>
          <a:effectLst>
            <a:outerShdw blurRad="101600" dist="38100" dir="8100000" algn="bl" rotWithShape="0">
              <a:srgbClr val="000000">
                <a:alpha val="12000"/>
              </a:srgbClr>
            </a:outerShdw>
          </a:effectLst>
        </p:spPr>
      </p:sp>
      <p:sp>
        <p:nvSpPr>
          <p:cNvPr id="30" name="Text 28"/>
          <p:cNvSpPr/>
          <p:nvPr/>
        </p:nvSpPr>
        <p:spPr>
          <a:xfrm>
            <a:off x="2560320" y="4645152"/>
            <a:ext cx="40233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Thank You  —  Questions &amp; Open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2199</Words>
  <Application>Microsoft Office PowerPoint</Application>
  <PresentationFormat>On-screen Show (16:9)</PresentationFormat>
  <Paragraphs>238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2</cp:revision>
  <dcterms:created xsi:type="dcterms:W3CDTF">2026-05-29T16:46:02Z</dcterms:created>
  <dcterms:modified xsi:type="dcterms:W3CDTF">2026-05-30T06:22:51Z</dcterms:modified>
</cp:coreProperties>
</file>